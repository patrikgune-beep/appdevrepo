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Översikt" id="{1548a692-a350-0a1f-7957-558c398f6cc3}">
          <p14:sldIdLst>
            <p14:sldId id="256"/>
            <p14:sldId id="257"/>
          </p14:sldIdLst>
        </p14:section>
        <p14:section name="Per rum" id="{b3407b20-5b67-e873-7475-de3a113eadd2}">
          <p14:sldIdLst>
            <p14:sldId id="258"/>
            <p14:sldId id="259"/>
            <p14:sldId id="260"/>
            <p14:sldId id="261"/>
          </p14:sldIdLst>
        </p14:section>
        <p14:section name="Arbete och material" id="{20e066cd-a7b2-bcb4-1ab2-cf06a89d76ef}">
          <p14:sldIdLst>
            <p14:sldId id="262"/>
            <p14:sldId id="263"/>
          </p14:sldIdLst>
        </p14:section>
        <p14:section name="Underlag" id="{a69a8634-ecc5-8f0c-3db7-e58992d75e59}">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Arbete</c:v>
                </c:pt>
              </c:strCache>
            </c:strRef>
          </c:tx>
          <c:spPr>
            <a:solidFill>
              <a:srgbClr val="A8691A"/>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Sheet1!$A$2:$A$12</c:f>
              <c:multiLvlStrCache>
                <c:ptCount val="11"/>
                <c:lvl>
                  <c:pt idx="0">
                    <c:v>WC</c:v>
                  </c:pt>
                  <c:pt idx="1">
                    <c:v>Hall &amp; korridor</c:v>
                  </c:pt>
                  <c:pt idx="2">
                    <c:v>Vardagsrum &amp; matsal</c:v>
                  </c:pt>
                  <c:pt idx="3">
                    <c:v>Sovrum &amp; garderober</c:v>
                  </c:pt>
                  <c:pt idx="4">
                    <c:v>Projektering</c:v>
                  </c:pt>
                  <c:pt idx="5">
                    <c:v>Badrum &amp; bastu</c:v>
                  </c:pt>
                  <c:pt idx="6">
                    <c:v>Kök + våtrum</c:v>
                  </c:pt>
                  <c:pt idx="7">
                    <c:v>Kök</c:v>
                  </c:pt>
                  <c:pt idx="8">
                    <c:v>Våtrum + hall</c:v>
                  </c:pt>
                  <c:pt idx="9">
                    <c:v>Kök + förvaring</c:v>
                  </c:pt>
                  <c:pt idx="10">
                    <c:v>Hela lägenheten</c:v>
                  </c:pt>
                </c:lvl>
              </c:multiLvlStrCache>
            </c:multiLvlStrRef>
          </c:cat>
          <c:val>
            <c:numRef>
              <c:f>Sheet1!$B$2:$B$12</c:f>
              <c:numCache>
                <c:formatCode>General</c:formatCode>
                <c:ptCount val="11"/>
                <c:pt idx="0">
                  <c:v>0</c:v>
                </c:pt>
                <c:pt idx="1">
                  <c:v>0</c:v>
                </c:pt>
                <c:pt idx="2">
                  <c:v>0</c:v>
                </c:pt>
                <c:pt idx="3">
                  <c:v>0</c:v>
                </c:pt>
                <c:pt idx="4">
                  <c:v>148</c:v>
                </c:pt>
                <c:pt idx="5">
                  <c:v>12</c:v>
                </c:pt>
                <c:pt idx="6">
                  <c:v>0</c:v>
                </c:pt>
                <c:pt idx="7">
                  <c:v>117</c:v>
                </c:pt>
                <c:pt idx="8">
                  <c:v>0</c:v>
                </c:pt>
                <c:pt idx="9">
                  <c:v>195</c:v>
                </c:pt>
                <c:pt idx="10">
                  <c:v>658</c:v>
                </c:pt>
              </c:numCache>
            </c:numRef>
          </c:val>
        </c:ser>
        <c:ser>
          <c:idx val="1"/>
          <c:order val="1"/>
          <c:tx>
            <c:strRef>
              <c:f>Sheet1!$C$1</c:f>
              <c:strCache>
                <c:ptCount val="1"/>
                <c:pt idx="0">
                  <c:v>Material</c:v>
                </c:pt>
              </c:strCache>
            </c:strRef>
          </c:tx>
          <c:spPr>
            <a:solidFill>
              <a:srgbClr val="2E6F73"/>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Sheet1!$A$2:$A$12</c:f>
              <c:multiLvlStrCache>
                <c:ptCount val="11"/>
                <c:lvl>
                  <c:pt idx="0">
                    <c:v>WC</c:v>
                  </c:pt>
                  <c:pt idx="1">
                    <c:v>Hall &amp; korridor</c:v>
                  </c:pt>
                  <c:pt idx="2">
                    <c:v>Vardagsrum &amp; matsal</c:v>
                  </c:pt>
                  <c:pt idx="3">
                    <c:v>Sovrum &amp; garderober</c:v>
                  </c:pt>
                  <c:pt idx="4">
                    <c:v>Projektering</c:v>
                  </c:pt>
                  <c:pt idx="5">
                    <c:v>Badrum &amp; bastu</c:v>
                  </c:pt>
                  <c:pt idx="6">
                    <c:v>Kök + våtrum</c:v>
                  </c:pt>
                  <c:pt idx="7">
                    <c:v>Kök</c:v>
                  </c:pt>
                  <c:pt idx="8">
                    <c:v>Våtrum + hall</c:v>
                  </c:pt>
                  <c:pt idx="9">
                    <c:v>Kök + förvaring</c:v>
                  </c:pt>
                  <c:pt idx="10">
                    <c:v>Hela lägenheten</c:v>
                  </c:pt>
                </c:lvl>
              </c:multiLvlStrCache>
            </c:multiLvlStrRef>
          </c:cat>
          <c:val>
            <c:numRef>
              <c:f>Sheet1!$C$2:$C$12</c:f>
              <c:numCache>
                <c:formatCode>General</c:formatCode>
                <c:ptCount val="11"/>
                <c:pt idx="0">
                  <c:v>28</c:v>
                </c:pt>
                <c:pt idx="1">
                  <c:v>0</c:v>
                </c:pt>
                <c:pt idx="2">
                  <c:v>0</c:v>
                </c:pt>
                <c:pt idx="3">
                  <c:v>0</c:v>
                </c:pt>
                <c:pt idx="4">
                  <c:v>0</c:v>
                </c:pt>
                <c:pt idx="5">
                  <c:v>68</c:v>
                </c:pt>
                <c:pt idx="6">
                  <c:v>0</c:v>
                </c:pt>
                <c:pt idx="7">
                  <c:v>312</c:v>
                </c:pt>
                <c:pt idx="8">
                  <c:v>73</c:v>
                </c:pt>
                <c:pt idx="9">
                  <c:v>1526</c:v>
                </c:pt>
                <c:pt idx="10">
                  <c:v>207</c:v>
                </c:pt>
              </c:numCache>
            </c:numRef>
          </c:val>
        </c:ser>
        <c:ser>
          <c:idx val="2"/>
          <c:order val="2"/>
          <c:tx>
            <c:strRef>
              <c:f>Sheet1!$D$1</c:f>
              <c:strCache>
                <c:ptCount val="1"/>
                <c:pt idx="0">
                  <c:v>Arbete + material (ej uppdelat)</c:v>
                </c:pt>
              </c:strCache>
            </c:strRef>
          </c:tx>
          <c:spPr>
            <a:solidFill>
              <a:srgbClr val="9AA3A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Sheet1!$A$2:$A$12</c:f>
              <c:multiLvlStrCache>
                <c:ptCount val="11"/>
                <c:lvl>
                  <c:pt idx="0">
                    <c:v>WC</c:v>
                  </c:pt>
                  <c:pt idx="1">
                    <c:v>Hall &amp; korridor</c:v>
                  </c:pt>
                  <c:pt idx="2">
                    <c:v>Vardagsrum &amp; matsal</c:v>
                  </c:pt>
                  <c:pt idx="3">
                    <c:v>Sovrum &amp; garderober</c:v>
                  </c:pt>
                  <c:pt idx="4">
                    <c:v>Projektering</c:v>
                  </c:pt>
                  <c:pt idx="5">
                    <c:v>Badrum &amp; bastu</c:v>
                  </c:pt>
                  <c:pt idx="6">
                    <c:v>Kök + våtrum</c:v>
                  </c:pt>
                  <c:pt idx="7">
                    <c:v>Kök</c:v>
                  </c:pt>
                  <c:pt idx="8">
                    <c:v>Våtrum + hall</c:v>
                  </c:pt>
                  <c:pt idx="9">
                    <c:v>Kök + förvaring</c:v>
                  </c:pt>
                  <c:pt idx="10">
                    <c:v>Hela lägenheten</c:v>
                  </c:pt>
                </c:lvl>
              </c:multiLvlStrCache>
            </c:multiLvlStrRef>
          </c:cat>
          <c:val>
            <c:numRef>
              <c:f>Sheet1!$D$2:$D$12</c:f>
              <c:numCache>
                <c:formatCode>General</c:formatCode>
                <c:ptCount val="11"/>
                <c:pt idx="0">
                  <c:v>0</c:v>
                </c:pt>
                <c:pt idx="1">
                  <c:v>44</c:v>
                </c:pt>
                <c:pt idx="2">
                  <c:v>86</c:v>
                </c:pt>
                <c:pt idx="3">
                  <c:v>126</c:v>
                </c:pt>
                <c:pt idx="4">
                  <c:v>0</c:v>
                </c:pt>
                <c:pt idx="5">
                  <c:v>77</c:v>
                </c:pt>
                <c:pt idx="6">
                  <c:v>169</c:v>
                </c:pt>
                <c:pt idx="7">
                  <c:v>29</c:v>
                </c:pt>
                <c:pt idx="8">
                  <c:v>414</c:v>
                </c:pt>
                <c:pt idx="9">
                  <c:v>0</c:v>
                </c:pt>
                <c:pt idx="10">
                  <c:v>1481</c:v>
                </c:pt>
              </c:numCache>
            </c:numRef>
          </c:val>
        </c:ser>
        <c:ser>
          <c:idx val="3"/>
          <c:order val="3"/>
          <c:tx>
            <c:strRef>
              <c:f>Sheet1!$E$1</c:f>
              <c:strCache>
                <c:ptCount val="1"/>
                <c:pt idx="0">
                  <c:v>Övrigt (transport, avfall, avgifter)</c:v>
                </c:pt>
              </c:strCache>
            </c:strRef>
          </c:tx>
          <c:spPr>
            <a:solidFill>
              <a:srgbClr val="D4BE96"/>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Sheet1!$A$2:$A$12</c:f>
              <c:multiLvlStrCache>
                <c:ptCount val="11"/>
                <c:lvl>
                  <c:pt idx="0">
                    <c:v>WC</c:v>
                  </c:pt>
                  <c:pt idx="1">
                    <c:v>Hall &amp; korridor</c:v>
                  </c:pt>
                  <c:pt idx="2">
                    <c:v>Vardagsrum &amp; matsal</c:v>
                  </c:pt>
                  <c:pt idx="3">
                    <c:v>Sovrum &amp; garderober</c:v>
                  </c:pt>
                  <c:pt idx="4">
                    <c:v>Projektering</c:v>
                  </c:pt>
                  <c:pt idx="5">
                    <c:v>Badrum &amp; bastu</c:v>
                  </c:pt>
                  <c:pt idx="6">
                    <c:v>Kök + våtrum</c:v>
                  </c:pt>
                  <c:pt idx="7">
                    <c:v>Kök</c:v>
                  </c:pt>
                  <c:pt idx="8">
                    <c:v>Våtrum + hall</c:v>
                  </c:pt>
                  <c:pt idx="9">
                    <c:v>Kök + förvaring</c:v>
                  </c:pt>
                  <c:pt idx="10">
                    <c:v>Hela lägenheten</c:v>
                  </c:pt>
                </c:lvl>
              </c:multiLvlStrCache>
            </c:multiLvlStrRef>
          </c:cat>
          <c:val>
            <c:numRef>
              <c:f>Sheet1!$E$2:$E$12</c:f>
              <c:numCache>
                <c:formatCode>General</c:formatCode>
                <c:ptCount val="11"/>
                <c:pt idx="0">
                  <c:v>0</c:v>
                </c:pt>
                <c:pt idx="1">
                  <c:v>0</c:v>
                </c:pt>
                <c:pt idx="2">
                  <c:v>0</c:v>
                </c:pt>
                <c:pt idx="3">
                  <c:v>0</c:v>
                </c:pt>
                <c:pt idx="4">
                  <c:v>0</c:v>
                </c:pt>
                <c:pt idx="5">
                  <c:v>0</c:v>
                </c:pt>
                <c:pt idx="6">
                  <c:v>0</c:v>
                </c:pt>
                <c:pt idx="7">
                  <c:v>0</c:v>
                </c:pt>
                <c:pt idx="8">
                  <c:v>0</c:v>
                </c:pt>
                <c:pt idx="9">
                  <c:v>0</c:v>
                </c:pt>
                <c:pt idx="10">
                  <c:v>172</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658"/>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9DDD5"/>
              </a:solidFill>
              <a:prstDash val="solid"/>
              <a:round/>
            </a:ln>
          </c:spPr>
        </c:majorGridlines>
        <c:title>
          <c:tx>
            <c:rich>
              <a:bodyPr/>
              <a:lstStyle/>
              <a:p>
                <a:pPr>
                  <a:defRPr sz="1100" b="0" i="0" u="none" strike="noStrike">
                    <a:solidFill>
                      <a:srgbClr val="4A5658"/>
                    </a:solidFill>
                    <a:latin typeface="Arial"/>
                  </a:defRPr>
                </a:pPr>
                <a:r>
                  <a:rPr sz="1100" b="0" i="0" u="none" strike="noStrike">
                    <a:solidFill>
                      <a:srgbClr val="4A5658"/>
                    </a:solidFill>
                    <a:latin typeface="Arial"/>
                  </a:rPr>
                  <a:t>tkr inkl. moms</a:t>
                </a:r>
              </a:p>
            </c:rich>
          </c:tx>
          <c:layout/>
          <c:overlay val="0"/>
        </c:title>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65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tkr inkl. moms</c:v>
                </c:pt>
              </c:strCache>
            </c:strRef>
          </c:tx>
          <c:spPr>
            <a:solidFill>
              <a:srgbClr val="A8691A"/>
            </a:solidFill>
            <a:effectLst/>
          </c:spPr>
          <c:invertIfNegative val="0"/>
          <c:dLbls>
            <c:numFmt formatCode="#,##0" sourceLinked="0"/>
            <c:txPr>
              <a:bodyPr/>
              <a:lstStyle/>
              <a:p>
                <a:pPr>
                  <a:defRPr b="0" i="0" strike="noStrike" sz="1100" u="none">
                    <a:solidFill>
                      <a:srgbClr val="1C2528"/>
                    </a:solidFill>
                    <a:latin typeface="+mn-lt"/>
                  </a:defRPr>
                </a:pPr>
              </a:p>
            </c:txPr>
            <c:showLegendKey val="0"/>
            <c:showVal val="1"/>
            <c:showCatName val="0"/>
            <c:showSerName val="0"/>
            <c:showPercent val="0"/>
            <c:showBubbleSize val="0"/>
            <c:showLeaderLines val="0"/>
          </c:dLbls>
          <c:cat>
            <c:multiLvlStrRef>
              <c:f>Sheet1!$A$2:$A$11</c:f>
              <c:multiLvlStrCache>
                <c:ptCount val="10"/>
                <c:lvl>
                  <c:pt idx="0">
                    <c:v>Övrigt kök (3 rader)</c:v>
                  </c:pt>
                  <c:pt idx="1">
                    <c:v>Diskmaskin Miele</c:v>
                  </c:pt>
                  <c:pt idx="2">
                    <c:v>Smidesomfattningar kök</c:v>
                  </c:pt>
                  <c:pt idx="3">
                    <c:v>Tvätt-/torkmaskin Miele</c:v>
                  </c:pt>
                  <c:pt idx="4">
                    <c:v>Köksfläkt Fjäråskupan Aura</c:v>
                  </c:pt>
                  <c:pt idx="5">
                    <c:v>Spis Bertazzoni PRO95I2EXT2</c:v>
                  </c:pt>
                  <c:pt idx="6">
                    <c:v>Glass bricks</c:v>
                  </c:pt>
                  <c:pt idx="7">
                    <c:v>Montering glasblock och stenimpregnering</c:v>
                  </c:pt>
                  <c:pt idx="8">
                    <c:v>Montering snickerier och inredning</c:v>
                  </c:pt>
                  <c:pt idx="9">
                    <c:v>Kök, skåp och garderober</c:v>
                  </c:pt>
                </c:lvl>
              </c:multiLvlStrCache>
            </c:multiLvlStrRef>
          </c:cat>
          <c:val>
            <c:numRef>
              <c:f>Sheet1!$B$2:$B$11</c:f>
              <c:numCache>
                <c:formatCode>General</c:formatCode>
                <c:ptCount val="10"/>
                <c:pt idx="0">
                  <c:v>55</c:v>
                </c:pt>
                <c:pt idx="1">
                  <c:v>22</c:v>
                </c:pt>
                <c:pt idx="2">
                  <c:v>29</c:v>
                </c:pt>
                <c:pt idx="3">
                  <c:v>31</c:v>
                </c:pt>
                <c:pt idx="4">
                  <c:v>34</c:v>
                </c:pt>
                <c:pt idx="5">
                  <c:v>66</c:v>
                </c:pt>
                <c:pt idx="6">
                  <c:v>105</c:v>
                </c:pt>
                <c:pt idx="7">
                  <c:v>117</c:v>
                </c:pt>
                <c:pt idx="8">
                  <c:v>195</c:v>
                </c:pt>
                <c:pt idx="9">
                  <c:v>1526</c:v>
                </c:pt>
              </c:numCache>
            </c:numRef>
          </c:val>
        </c:ser>
        <c:dLbls>
          <c:numFmt formatCode="#,##0" sourceLinked="0"/>
          <c:txPr>
            <a:bodyPr/>
            <a:lstStyle/>
            <a:p>
              <a:pPr>
                <a:defRPr b="0" i="0" strike="noStrike" sz="1100" u="none">
                  <a:solidFill>
                    <a:srgbClr val="1C2528"/>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658"/>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9DDD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65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Fakturerat</c:v>
                </c:pt>
              </c:strCache>
            </c:strRef>
          </c:tx>
          <c:spPr>
            <a:solidFill>
              <a:schemeClr val="accent1"/>
            </a:solidFill>
            <a:ln w="9525" cap="flat">
              <a:solidFill>
                <a:srgbClr val="F9F9F9"/>
              </a:solidFill>
              <a:prstDash val="solid"/>
              <a:round/>
            </a:ln>
            <a:effectLst/>
          </c:spPr>
          <c:dPt>
            <c:idx val="0"/>
            <c:bubble3D val="0"/>
            <c:spPr>
              <a:solidFill>
                <a:srgbClr val="A8691A"/>
              </a:solidFill>
              <a:effectLst/>
            </c:spPr>
          </c:dPt>
          <c:dPt>
            <c:idx val="1"/>
            <c:bubble3D val="0"/>
            <c:spPr>
              <a:solidFill>
                <a:srgbClr val="2E6F73"/>
              </a:solidFill>
              <a:effectLst/>
            </c:spPr>
          </c:dPt>
          <c:dPt>
            <c:idx val="2"/>
            <c:bubble3D val="0"/>
            <c:spPr>
              <a:solidFill>
                <a:srgbClr val="D4BE96"/>
              </a:solidFill>
              <a:effectLst/>
            </c:spPr>
          </c:dPt>
          <c:dLbls>
            <c:dLbl>
              <c:idx val="0"/>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Arbete</c:v>
                </c:pt>
                <c:pt idx="1">
                  <c:v>Material</c:v>
                </c:pt>
                <c:pt idx="2">
                  <c:v>Övrigt (transport, avfall, avgifter)</c:v>
                </c:pt>
              </c:strCache>
            </c:strRef>
          </c:cat>
          <c:val>
            <c:numRef>
              <c:f>Sheet1!$B$2:$B$4</c:f>
              <c:numCache>
                <c:ptCount val="3"/>
                <c:pt idx="0">
                  <c:v>671</c:v>
                </c:pt>
                <c:pt idx="1">
                  <c:v>139</c:v>
                </c:pt>
                <c:pt idx="2">
                  <c:v>123</c:v>
                </c:pt>
              </c:numCache>
            </c:numRef>
          </c:val>
        </c:ser>
        <c:firstSliceAng val="0"/>
        <c:holeSize val="58"/>
      </c:doughnutChart>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A8691A"/>
              </a:solidFill>
              <a:effectLst/>
            </c:spPr>
          </c:dPt>
          <c:dPt>
            <c:idx val="1"/>
            <c:bubble3D val="0"/>
            <c:spPr>
              <a:solidFill>
                <a:srgbClr val="2E6F73"/>
              </a:solidFill>
              <a:effectLst/>
            </c:spPr>
          </c:dPt>
          <c:dPt>
            <c:idx val="2"/>
            <c:bubble3D val="0"/>
            <c:spPr>
              <a:solidFill>
                <a:srgbClr val="9AA3A0"/>
              </a:solidFill>
              <a:effectLst/>
            </c:spPr>
          </c:dPt>
          <c:dPt>
            <c:idx val="3"/>
            <c:bubble3D val="0"/>
            <c:spPr>
              <a:solidFill>
                <a:srgbClr val="D4BE96"/>
              </a:solidFill>
              <a:effectLst/>
            </c:spPr>
          </c:dPt>
          <c:dLbls>
            <c:dLbl>
              <c:idx val="0"/>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Arbete</c:v>
                </c:pt>
                <c:pt idx="1">
                  <c:v>Material</c:v>
                </c:pt>
                <c:pt idx="2">
                  <c:v>Arbete + material (ej uppdelat)</c:v>
                </c:pt>
                <c:pt idx="3">
                  <c:v>Övrigt (transport, avfall, avgifter)</c:v>
                </c:pt>
              </c:strCache>
            </c:strRef>
          </c:cat>
          <c:val>
            <c:numRef>
              <c:f>Sheet1!$B$2:$B$5</c:f>
              <c:numCache>
                <c:ptCount val="4"/>
                <c:pt idx="0">
                  <c:v>1131</c:v>
                </c:pt>
                <c:pt idx="1">
                  <c:v>2214</c:v>
                </c:pt>
                <c:pt idx="2">
                  <c:v>2426</c:v>
                </c:pt>
                <c:pt idx="3">
                  <c:v>172</c:v>
                </c:pt>
              </c:numCache>
            </c:numRef>
          </c:val>
        </c:ser>
        <c:firstSliceAng val="0"/>
        <c:holeSize val="58"/>
      </c:doughnutChart>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tkr inkl. moms</c:v>
                </c:pt>
              </c:strCache>
            </c:strRef>
          </c:tx>
          <c:spPr>
            <a:solidFill>
              <a:srgbClr val="9AA3A0"/>
            </a:solidFill>
            <a:effectLst/>
          </c:spPr>
          <c:invertIfNegative val="0"/>
          <c:dLbls>
            <c:numFmt formatCode="#,##0" sourceLinked="0"/>
            <c:txPr>
              <a:bodyPr/>
              <a:lstStyle/>
              <a:p>
                <a:pPr>
                  <a:defRPr b="0" i="0" strike="noStrike" sz="1100" u="none">
                    <a:solidFill>
                      <a:srgbClr val="1C2528"/>
                    </a:solidFill>
                    <a:latin typeface="+mn-lt"/>
                  </a:defRPr>
                </a:pPr>
              </a:p>
            </c:txPr>
            <c:showLegendKey val="0"/>
            <c:showVal val="1"/>
            <c:showCatName val="0"/>
            <c:showSerName val="0"/>
            <c:showPercent val="0"/>
            <c:showBubbleSize val="0"/>
            <c:showLeaderLines val="0"/>
          </c:dLbls>
          <c:cat>
            <c:multiLvlStrRef>
              <c:f>Sheet1!$A$2:$A$9</c:f>
              <c:multiLvlStrCache>
                <c:ptCount val="8"/>
                <c:lvl>
                  <c:pt idx="0">
                    <c:v>Allmänna kostnader (kvar)</c:v>
                  </c:pt>
                  <c:pt idx="1">
                    <c:v>ÄTA 4: mattläggning</c:v>
                  </c:pt>
                  <c:pt idx="2">
                    <c:v>Rörarbeten</c:v>
                  </c:pt>
                  <c:pt idx="3">
                    <c:v>Plattarbeten</c:v>
                  </c:pt>
                  <c:pt idx="4">
                    <c:v>ÄTA 6: spackel och sättning</c:v>
                  </c:pt>
                  <c:pt idx="5">
                    <c:v>Måleri</c:v>
                  </c:pt>
                  <c:pt idx="6">
                    <c:v>Byggnadsarbeten</c:v>
                  </c:pt>
                  <c:pt idx="7">
                    <c:v>ÄTA 3: elektriker</c:v>
                  </c:pt>
                </c:lvl>
              </c:multiLvlStrCache>
            </c:multiLvlStrRef>
          </c:cat>
          <c:val>
            <c:numRef>
              <c:f>Sheet1!$B$2:$B$9</c:f>
              <c:numCache>
                <c:formatCode>General</c:formatCode>
                <c:ptCount val="8"/>
                <c:pt idx="0">
                  <c:v>98</c:v>
                </c:pt>
                <c:pt idx="1">
                  <c:v>126</c:v>
                </c:pt>
                <c:pt idx="2">
                  <c:v>140</c:v>
                </c:pt>
                <c:pt idx="3">
                  <c:v>203</c:v>
                </c:pt>
                <c:pt idx="4">
                  <c:v>212</c:v>
                </c:pt>
                <c:pt idx="5">
                  <c:v>344</c:v>
                </c:pt>
                <c:pt idx="6">
                  <c:v>381</c:v>
                </c:pt>
                <c:pt idx="7">
                  <c:v>494</c:v>
                </c:pt>
              </c:numCache>
            </c:numRef>
          </c:val>
        </c:ser>
        <c:dLbls>
          <c:numFmt formatCode="#,##0" sourceLinked="0"/>
          <c:txPr>
            <a:bodyPr/>
            <a:lstStyle/>
            <a:p>
              <a:pPr>
                <a:defRPr b="0" i="0" strike="noStrike" sz="1100" u="none">
                  <a:solidFill>
                    <a:srgbClr val="1C2528"/>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658"/>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9DDD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65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Underlaget är Ny budget i kostnadsappen, med de val som är sparade 16 oktober: klinker (Bricmate) i ÄTA 6 och alternativ 1 i ÄTA 2. Alla belopp är inkl. moms och före ROT-avdrag.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Huvudbudskapet: underlaget från Thessén är upplagt per yrkesgrupp, inte per rum. Bara 15 % går att placera i ett enskilt rum. 40 % gäller flera namngivna rum i samma belopp och 42 % gäller hela lägenheten. 41 % av budgeten är arbete och material i samma belopp. Det spelar roll för ROT, som bara gäller arbetskostnad.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Staplarna visar justerad budget per rum och kostnadsslag i tusen kronor inkl. moms. "Hela lägenheten" är poster som rivning, el, måleri, bygg och allmänna kostnader, där offerten inte anger rum. Kombinationer som "Kök + förvaring" är rader som uttryckligen gäller flera 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Tabellen är samma underlag som diagrammet. Andel är andel av hela justerade budgeten. Avrundat till tusentals kronor, så summorna kan avvika med någon tusenlapp.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Raden "Kök, skåp och garderober enligt projektplan" i ÄTA 4 omfattar kök, garderober, kommoder och sängstomme. Den kan inte delas mellan kök och sovrum utan en specifikation från Thessén. Tvätt- och torkmaskinen ligger här eftersom den finns i vitvaru-ÄTA:n. Montering av snickerier är prissatt till 812,50 kr/h mot avtalade 650 kr/h.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Korten visar det som dokumenten uttryckligen knyter till ett rum. Plattsättning, tätskikt, sten och klinker (487 tkr) och rör och ventilation (169 tkr) gäller flera rum i samma belopp och ingår inte i korten. Badrummets verkliga kostnad är därför betydligt högre än kortet visar.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Vänster: fakturerade kostnader, exakt uppdelade från fakturor och underlag. Påslaget på 12 % räknas till samma slag som raden det hör till. Höger: hela justerade budgeten, där arbete och material ofta står på samma rad i offerten och ÄTA:orna.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ROT-avdraget gäller bara arbetskostnad. Därför avgör uppdelningen av de här posterna både hur stor budgeten blir efter ROT och vad som går att kontrollera mot avtalade timpriser. Störst är elektrikerposten i ÄTA 3, som saknar specifikation.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Metoden följer appens flik Ny budget. Fördelningen på rum är min bedömning utifrån dokumentens text och tidsplanen. Inga belopp är gissade fram. Det som inte går att placera ligger kvar som flera rum eller hela lägenheten.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krav till Thessén innan ÄTA:orna godkänns. När specifikationerna kommer kan de läggas in i appen som delrader, och då uppdateras fördelningen per 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V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977640"/>
            <a:ext cx="10698480" cy="1280160"/>
          </a:xfrm>
          <a:prstGeom prst="rect">
            <a:avLst/>
          </a:prstGeom>
          <a:noFill/>
          <a:ln/>
        </p:spPr>
        <p:txBody>
          <a:bodyPr wrap="square" rtlCol="0"/>
          <a:lstStyle>
            <a:lvl1pPr algn="l" indent="0" marL="0">
              <a:buNone/>
              <a:defRPr lang="en-US" sz="1800" dirty="0">
                <a:solidFill>
                  <a:schemeClr val="accent4"/>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V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tx2"/>
                </a:solidFill>
              </a:rPr>
              <a:t>Karlavägen 71 · Kostnader per rum och kostnadsslag · justerad budget 16 okt 2026</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Karlavägen 71: kostnader per rum och kostnadsslag</a:t>
            </a:r>
            <a:endParaRPr lang="en-US" sz="4000" dirty="0"/>
          </a:p>
        </p:txBody>
      </p:sp>
      <p:sp>
        <p:nvSpPr>
          <p:cNvPr id="3" name="Text 0"/>
          <p:cNvSpPr/>
          <p:nvPr>
            <p:ph idx="101" type="body" hasCustomPrompt="1"/>
          </p:nvPr>
        </p:nvSpPr>
        <p:spPr>
          <a:xfrm>
            <a:off x="731520" y="3977640"/>
            <a:ext cx="10698480" cy="1280160"/>
          </a:xfrm>
          <a:prstGeom prst="rect">
            <a:avLst/>
          </a:prstGeom>
          <a:noFill/>
          <a:ln/>
        </p:spPr>
        <p:txBody>
          <a:bodyPr wrap="square" lIns="0" tIns="0" rIns="0" bIns="0" rtlCol="0" anchor="t"/>
          <a:lstStyle/>
          <a:p>
            <a:pPr algn="l" indent="0" marL="0">
              <a:buNone/>
            </a:pPr>
            <a:r>
              <a:rPr lang="en-US" sz="1800" dirty="0">
                <a:solidFill>
                  <a:schemeClr val="accent4"/>
                </a:solidFill>
              </a:rPr>
              <a:t>Justerad budget 16 oktober 2026 · 5,94 Mkr inkl. moms före ROT · din version med klinker i ÄTA 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Bara 15 % kan knytas till ett enskilt rum</a:t>
            </a:r>
            <a:endParaRPr lang="en-US" sz="2800" dirty="0"/>
          </a:p>
        </p:txBody>
      </p:sp>
      <p:sp>
        <p:nvSpPr>
          <p:cNvPr id="4" name="stat-card-1"/>
          <p:cNvSpPr/>
          <p:nvPr/>
        </p:nvSpPr>
        <p:spPr>
          <a:xfrm>
            <a:off x="548640" y="1508760"/>
            <a:ext cx="3474720" cy="2240280"/>
          </a:xfrm>
          <a:prstGeom prst="roundRect">
            <a:avLst>
              <a:gd name="adj" fmla="val 4898"/>
            </a:avLst>
          </a:prstGeom>
          <a:solidFill>
            <a:schemeClr val="bg2"/>
          </a:solidFill>
          <a:ln w="12700">
            <a:solidFill>
              <a:schemeClr val="bg2"/>
            </a:solidFill>
            <a:prstDash val="solid"/>
          </a:ln>
        </p:spPr>
      </p:sp>
      <p:sp>
        <p:nvSpPr>
          <p:cNvPr id="5" name="stat-value-1"/>
          <p:cNvSpPr txBox="1"/>
          <p:nvPr/>
        </p:nvSpPr>
        <p:spPr>
          <a:xfrm>
            <a:off x="822960" y="1691640"/>
            <a:ext cx="2926080" cy="100584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5,94 Mkr</a:t>
            </a:r>
            <a:endParaRPr lang="en-US" sz="4000" dirty="0"/>
          </a:p>
        </p:txBody>
      </p:sp>
      <p:sp>
        <p:nvSpPr>
          <p:cNvPr id="6" name="stat-label-1"/>
          <p:cNvSpPr txBox="1"/>
          <p:nvPr/>
        </p:nvSpPr>
        <p:spPr>
          <a:xfrm>
            <a:off x="822960" y="2743200"/>
            <a:ext cx="2926080" cy="822960"/>
          </a:xfrm>
          <a:prstGeom prst="rect">
            <a:avLst/>
          </a:prstGeom>
          <a:noFill/>
          <a:ln/>
        </p:spPr>
        <p:txBody>
          <a:bodyPr wrap="square" lIns="0" tIns="0" rIns="0" bIns="0" rtlCol="0" anchor="t"/>
          <a:lstStyle/>
          <a:p>
            <a:pPr indent="0" marL="0">
              <a:buNone/>
            </a:pPr>
            <a:r>
              <a:rPr lang="en-US" sz="1500" dirty="0">
                <a:solidFill>
                  <a:schemeClr val="tx2"/>
                </a:solidFill>
              </a:rPr>
              <a:t>justerad budget inkl. moms, före ROT</a:t>
            </a:r>
            <a:endParaRPr lang="en-US" sz="1500" dirty="0"/>
          </a:p>
        </p:txBody>
      </p:sp>
      <p:sp>
        <p:nvSpPr>
          <p:cNvPr id="7" name="stat-card-2"/>
          <p:cNvSpPr/>
          <p:nvPr/>
        </p:nvSpPr>
        <p:spPr>
          <a:xfrm>
            <a:off x="4297680" y="1508760"/>
            <a:ext cx="3474720" cy="2240280"/>
          </a:xfrm>
          <a:prstGeom prst="roundRect">
            <a:avLst>
              <a:gd name="adj" fmla="val 4898"/>
            </a:avLst>
          </a:prstGeom>
          <a:solidFill>
            <a:schemeClr val="bg2"/>
          </a:solidFill>
          <a:ln w="12700">
            <a:solidFill>
              <a:schemeClr val="bg2"/>
            </a:solidFill>
            <a:prstDash val="solid"/>
          </a:ln>
        </p:spPr>
      </p:sp>
      <p:sp>
        <p:nvSpPr>
          <p:cNvPr id="8" name="stat-value-2"/>
          <p:cNvSpPr txBox="1"/>
          <p:nvPr/>
        </p:nvSpPr>
        <p:spPr>
          <a:xfrm>
            <a:off x="4572000" y="1691640"/>
            <a:ext cx="2926080" cy="10058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15 %</a:t>
            </a:r>
            <a:endParaRPr lang="en-US" sz="4000" dirty="0"/>
          </a:p>
        </p:txBody>
      </p:sp>
      <p:sp>
        <p:nvSpPr>
          <p:cNvPr id="9" name="stat-label-2"/>
          <p:cNvSpPr txBox="1"/>
          <p:nvPr/>
        </p:nvSpPr>
        <p:spPr>
          <a:xfrm>
            <a:off x="4572000" y="2743200"/>
            <a:ext cx="2926080" cy="822960"/>
          </a:xfrm>
          <a:prstGeom prst="rect">
            <a:avLst/>
          </a:prstGeom>
          <a:noFill/>
          <a:ln/>
        </p:spPr>
        <p:txBody>
          <a:bodyPr wrap="square" lIns="0" tIns="0" rIns="0" bIns="0" rtlCol="0" anchor="t"/>
          <a:lstStyle/>
          <a:p>
            <a:pPr indent="0" marL="0">
              <a:buNone/>
            </a:pPr>
            <a:r>
              <a:rPr lang="en-US" sz="1500" dirty="0">
                <a:solidFill>
                  <a:schemeClr val="tx2"/>
                </a:solidFill>
              </a:rPr>
              <a:t>kan knytas till ett enskilt rum (0,90 Mkr)</a:t>
            </a:r>
            <a:endParaRPr lang="en-US" sz="1500" dirty="0"/>
          </a:p>
        </p:txBody>
      </p:sp>
      <p:sp>
        <p:nvSpPr>
          <p:cNvPr id="10" name="stat-card-3"/>
          <p:cNvSpPr/>
          <p:nvPr/>
        </p:nvSpPr>
        <p:spPr>
          <a:xfrm>
            <a:off x="8046720" y="1508760"/>
            <a:ext cx="3474720" cy="2240280"/>
          </a:xfrm>
          <a:prstGeom prst="roundRect">
            <a:avLst>
              <a:gd name="adj" fmla="val 4898"/>
            </a:avLst>
          </a:prstGeom>
          <a:solidFill>
            <a:schemeClr val="bg2"/>
          </a:solidFill>
          <a:ln w="12700">
            <a:solidFill>
              <a:schemeClr val="bg2"/>
            </a:solidFill>
            <a:prstDash val="solid"/>
          </a:ln>
        </p:spPr>
      </p:sp>
      <p:sp>
        <p:nvSpPr>
          <p:cNvPr id="11" name="stat-value-3"/>
          <p:cNvSpPr txBox="1"/>
          <p:nvPr/>
        </p:nvSpPr>
        <p:spPr>
          <a:xfrm>
            <a:off x="8321040" y="1691640"/>
            <a:ext cx="2926080" cy="10058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41 %</a:t>
            </a:r>
            <a:endParaRPr lang="en-US" sz="4000" dirty="0"/>
          </a:p>
        </p:txBody>
      </p:sp>
      <p:sp>
        <p:nvSpPr>
          <p:cNvPr id="12" name="stat-label-3"/>
          <p:cNvSpPr txBox="1"/>
          <p:nvPr/>
        </p:nvSpPr>
        <p:spPr>
          <a:xfrm>
            <a:off x="8321040" y="2743200"/>
            <a:ext cx="2926080" cy="822960"/>
          </a:xfrm>
          <a:prstGeom prst="rect">
            <a:avLst/>
          </a:prstGeom>
          <a:noFill/>
          <a:ln/>
        </p:spPr>
        <p:txBody>
          <a:bodyPr wrap="square" lIns="0" tIns="0" rIns="0" bIns="0" rtlCol="0" anchor="t"/>
          <a:lstStyle/>
          <a:p>
            <a:pPr indent="0" marL="0">
              <a:buNone/>
            </a:pPr>
            <a:r>
              <a:rPr lang="en-US" sz="1500" dirty="0">
                <a:solidFill>
                  <a:schemeClr val="tx2"/>
                </a:solidFill>
              </a:rPr>
              <a:t>är arbete och material i samma belopp och kan inte delas upp</a:t>
            </a:r>
            <a:endParaRPr lang="en-US" sz="1500" dirty="0"/>
          </a:p>
        </p:txBody>
      </p:sp>
      <p:sp>
        <p:nvSpPr>
          <p:cNvPr id="13" name="key-messages"/>
          <p:cNvSpPr txBox="1"/>
          <p:nvPr/>
        </p:nvSpPr>
        <p:spPr>
          <a:xfrm>
            <a:off x="548640" y="4114800"/>
            <a:ext cx="11064240" cy="1463040"/>
          </a:xfrm>
          <a:prstGeom prst="rect">
            <a:avLst/>
          </a:prstGeom>
          <a:noFill/>
          <a:ln/>
        </p:spPr>
        <p:txBody>
          <a:bodyPr wrap="square" lIns="0" tIns="0" rIns="0" bIns="0" rtlCol="0" anchor="t"/>
          <a:lstStyle/>
          <a:p>
            <a:pPr indent="0" marL="0">
              <a:spcAft>
                <a:spcPts val="1000"/>
              </a:spcAft>
              <a:buNone/>
            </a:pPr>
            <a:r>
              <a:rPr lang="en-US" sz="1700" b="1" dirty="0">
                <a:solidFill>
                  <a:schemeClr val="tx1"/>
                </a:solidFill>
              </a:rPr>
              <a:t>Köket med förvaring står för minst 2,18 Mkr. </a:t>
            </a:r>
            <a:pPr indent="0" marL="0">
              <a:spcAft>
                <a:spcPts val="1000"/>
              </a:spcAft>
              <a:buNone/>
            </a:pPr>
            <a:r>
              <a:rPr lang="en-US" sz="1700" dirty="0">
                <a:solidFill>
                  <a:schemeClr val="tx1"/>
                </a:solidFill>
              </a:rPr>
              <a:t>Det är över en tredjedel av budgeten, och 1,53 Mkr av det är en enda snickeripost utan specifikation.</a:t>
            </a:r>
            <a:endParaRPr lang="en-US" sz="1700" dirty="0"/>
          </a:p>
          <a:p>
            <a:pPr indent="0" marL="0">
              <a:spcAft>
                <a:spcPts val="1000"/>
              </a:spcAft>
              <a:buNone/>
            </a:pPr>
            <a:r>
              <a:rPr lang="en-US" sz="1700" b="1" dirty="0">
                <a:solidFill>
                  <a:schemeClr val="tx1"/>
                </a:solidFill>
              </a:rPr>
              <a:t>Hittills har 72 % av det fakturerade varit arbete. </a:t>
            </a:r>
            <a:pPr indent="0" marL="0">
              <a:spcAft>
                <a:spcPts val="1000"/>
              </a:spcAft>
              <a:buNone/>
            </a:pPr>
            <a:r>
              <a:rPr lang="en-US" sz="1700" dirty="0">
                <a:solidFill>
                  <a:schemeClr val="tx1"/>
                </a:solidFill>
              </a:rPr>
              <a:t>Framåt domineras budgeten av material och poster som inte är uppdelade.</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Hela lägenheten och köket dominerar kostnaden</a:t>
            </a:r>
            <a:endParaRPr lang="en-US" sz="2800" dirty="0"/>
          </a:p>
        </p:txBody>
      </p:sp>
      <p:graphicFrame>
        <p:nvGraphicFramePr>
          <p:cNvPr id="4" name="chart-rooms" descr=""/>
          <p:cNvGraphicFramePr/>
          <p:nvPr/>
        </p:nvGraphicFramePr>
        <p:xfrm>
          <a:off x="548640" y="1325880"/>
          <a:ext cx="7863840" cy="4983480"/>
        </p:xfrm>
        <a:graphic xmlns:a="http://schemas.openxmlformats.org/drawingml/2006/main">
          <a:graphicData uri="http://schemas.openxmlformats.org/drawingml/2006/chart">
            <c:chart xmlns:c="http://schemas.openxmlformats.org/drawingml/2006/chart" r:id="rId1"/>
          </a:graphicData>
        </a:graphic>
      </p:graphicFrame>
      <p:sp>
        <p:nvSpPr>
          <p:cNvPr id="5" name="chart-commentary-bg"/>
          <p:cNvSpPr/>
          <p:nvPr/>
        </p:nvSpPr>
        <p:spPr>
          <a:xfrm>
            <a:off x="8686800" y="1325880"/>
            <a:ext cx="2926080" cy="4983480"/>
          </a:xfrm>
          <a:prstGeom prst="roundRect">
            <a:avLst>
              <a:gd name="adj" fmla="val 3125"/>
            </a:avLst>
          </a:prstGeom>
          <a:solidFill>
            <a:schemeClr val="bg2"/>
          </a:solidFill>
          <a:ln w="12700">
            <a:solidFill>
              <a:schemeClr val="bg2"/>
            </a:solidFill>
            <a:prstDash val="solid"/>
          </a:ln>
        </p:spPr>
      </p:sp>
      <p:sp>
        <p:nvSpPr>
          <p:cNvPr id="6" name="chart-commentary"/>
          <p:cNvSpPr txBox="1"/>
          <p:nvPr/>
        </p:nvSpPr>
        <p:spPr>
          <a:xfrm>
            <a:off x="8915400" y="1508760"/>
            <a:ext cx="2468880" cy="46177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Så läser du diagrammet</a:t>
            </a:r>
            <a:endParaRPr lang="en-US" sz="1400" dirty="0"/>
          </a:p>
          <a:p>
            <a:pPr indent="0" marL="0">
              <a:spcAft>
                <a:spcPts val="600"/>
              </a:spcAft>
              <a:buNone/>
            </a:pPr>
            <a:r>
              <a:rPr lang="en-US" sz="1400" dirty="0">
                <a:solidFill>
                  <a:schemeClr val="tx1"/>
                </a:solidFill>
              </a:rPr>
              <a:t>Hela lägenheten: 2,52 Mkr (42 %). Rivning, el, måleri, bygg och allmänna kostnader.</a:t>
            </a:r>
            <a:endParaRPr lang="en-US" sz="1400" dirty="0"/>
          </a:p>
          <a:p>
            <a:pPr indent="0" marL="0">
              <a:spcAft>
                <a:spcPts val="600"/>
              </a:spcAft>
              <a:buNone/>
            </a:pPr>
            <a:r>
              <a:rPr lang="en-US" sz="1400" dirty="0">
                <a:solidFill>
                  <a:schemeClr val="tx1"/>
                </a:solidFill>
              </a:rPr>
              <a:t>Kök + förvaring: 1,72 Mkr. Kök, skåp, garderober och montering i ÄTA 4.</a:t>
            </a:r>
            <a:endParaRPr lang="en-US" sz="1400" dirty="0"/>
          </a:p>
          <a:p>
            <a:pPr indent="0" marL="0">
              <a:spcAft>
                <a:spcPts val="600"/>
              </a:spcAft>
              <a:buNone/>
            </a:pPr>
            <a:r>
              <a:rPr lang="en-US" sz="1400" dirty="0">
                <a:solidFill>
                  <a:schemeClr val="tx1"/>
                </a:solidFill>
              </a:rPr>
              <a:t>Våtrum + hall: 0,49 Mkr. Plattor, klinker och spackel utan rum angivet.</a:t>
            </a:r>
            <a:endParaRPr lang="en-US" sz="1400" dirty="0"/>
          </a:p>
          <a:p>
            <a:pPr indent="0" marL="0">
              <a:spcAft>
                <a:spcPts val="600"/>
              </a:spcAft>
              <a:buNone/>
            </a:pPr>
            <a:r>
              <a:rPr lang="en-US" sz="1400" dirty="0">
                <a:solidFill>
                  <a:schemeClr val="tx1"/>
                </a:solidFill>
              </a:rPr>
              <a:t>Enskilda rum: 0,90 Mkr totalt.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Kostnad per rum och kostnadsslag, tkr inkl. moms</a:t>
            </a:r>
            <a:endParaRPr lang="en-US" sz="2800" dirty="0"/>
          </a:p>
        </p:txBody>
      </p:sp>
      <p:graphicFrame>
        <p:nvGraphicFramePr>
          <p:cNvPr id="5" name="table-rooms"/>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017520"/>
                <a:gridCol w="1325880"/>
                <a:gridCol w="1325880"/>
                <a:gridCol w="1737360"/>
                <a:gridCol w="1234440"/>
                <a:gridCol w="1325880"/>
                <a:gridCol w="1097280"/>
              </a:tblGrid>
              <a:tr h="329184">
                <a:tc>
                  <a:txBody>
                    <a:bodyPr/>
                    <a:lstStyle/>
                    <a:p>
                      <a:pPr algn="l" indent="0" marL="0">
                        <a:buNone/>
                      </a:pPr>
                      <a:r>
                        <a:rPr lang="en-US" sz="1300" b="1" dirty="0">
                          <a:solidFill>
                            <a:srgbClr val="FFFFFF"/>
                          </a:solidFill>
                        </a:rPr>
                        <a:t>Rum</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1C2528"/>
                    </a:solidFill>
                  </a:tcPr>
                </a:tc>
                <a:tc>
                  <a:txBody>
                    <a:bodyPr/>
                    <a:lstStyle/>
                    <a:p>
                      <a:pPr algn="r" indent="0" marL="0">
                        <a:buNone/>
                      </a:pPr>
                      <a:r>
                        <a:rPr lang="en-US" sz="1300" b="1" dirty="0">
                          <a:solidFill>
                            <a:srgbClr val="FFFFFF"/>
                          </a:solidFill>
                        </a:rPr>
                        <a:t>Arbete</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1C2528"/>
                    </a:solidFill>
                  </a:tcPr>
                </a:tc>
                <a:tc>
                  <a:txBody>
                    <a:bodyPr/>
                    <a:lstStyle/>
                    <a:p>
                      <a:pPr algn="r" indent="0" marL="0">
                        <a:buNone/>
                      </a:pPr>
                      <a:r>
                        <a:rPr lang="en-US" sz="1300" b="1" dirty="0">
                          <a:solidFill>
                            <a:srgbClr val="FFFFFF"/>
                          </a:solidFill>
                        </a:rPr>
                        <a:t>Material</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1C2528"/>
                    </a:solidFill>
                  </a:tcPr>
                </a:tc>
                <a:tc>
                  <a:txBody>
                    <a:bodyPr/>
                    <a:lstStyle/>
                    <a:p>
                      <a:pPr algn="r" indent="0" marL="0">
                        <a:buNone/>
                      </a:pPr>
                      <a:r>
                        <a:rPr lang="en-US" sz="1300" b="1" dirty="0">
                          <a:solidFill>
                            <a:srgbClr val="FFFFFF"/>
                          </a:solidFill>
                        </a:rPr>
                        <a:t>Arbete + material</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1C2528"/>
                    </a:solidFill>
                  </a:tcPr>
                </a:tc>
                <a:tc>
                  <a:txBody>
                    <a:bodyPr/>
                    <a:lstStyle/>
                    <a:p>
                      <a:pPr algn="r" indent="0" marL="0">
                        <a:buNone/>
                      </a:pPr>
                      <a:r>
                        <a:rPr lang="en-US" sz="1300" b="1" dirty="0">
                          <a:solidFill>
                            <a:srgbClr val="FFFFFF"/>
                          </a:solidFill>
                        </a:rPr>
                        <a:t>Övrigt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1C2528"/>
                    </a:solidFill>
                  </a:tcPr>
                </a:tc>
                <a:tc>
                  <a:txBody>
                    <a:bodyPr/>
                    <a:lstStyle/>
                    <a:p>
                      <a:pPr algn="r" indent="0" marL="0">
                        <a:buNone/>
                      </a:pPr>
                      <a:r>
                        <a:rPr lang="en-US" sz="1300" b="1" dirty="0">
                          <a:solidFill>
                            <a:srgbClr val="FFFFFF"/>
                          </a:solidFill>
                        </a:rPr>
                        <a:t>Totalt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1C2528"/>
                    </a:solidFill>
                  </a:tcPr>
                </a:tc>
                <a:tc>
                  <a:txBody>
                    <a:bodyPr/>
                    <a:lstStyle/>
                    <a:p>
                      <a:pPr algn="r" indent="0" marL="0">
                        <a:buNone/>
                      </a:pPr>
                      <a:r>
                        <a:rPr lang="en-US" sz="1300" b="1" dirty="0">
                          <a:solidFill>
                            <a:srgbClr val="FFFFFF"/>
                          </a:solidFill>
                        </a:rPr>
                        <a:t>Andel</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1C2528"/>
                    </a:solidFill>
                  </a:tcPr>
                </a:tc>
              </a:tr>
              <a:tr h="329184">
                <a:tc>
                  <a:txBody>
                    <a:bodyPr/>
                    <a:lstStyle/>
                    <a:p>
                      <a:pPr indent="0" marL="0">
                        <a:buNone/>
                      </a:pPr>
                      <a:r>
                        <a:rPr lang="en-US" sz="1300" dirty="0">
                          <a:solidFill>
                            <a:srgbClr val="1C2528"/>
                          </a:solidFill>
                        </a:rPr>
                        <a:t>Hela lägenheten</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658</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207</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1 481</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172</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b="1" dirty="0">
                          <a:solidFill>
                            <a:srgbClr val="1C2528"/>
                          </a:solidFill>
                        </a:rPr>
                        <a:t>2 518</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42 %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r>
              <a:tr h="329184">
                <a:tc>
                  <a:txBody>
                    <a:bodyPr/>
                    <a:lstStyle/>
                    <a:p>
                      <a:pPr indent="0" marL="0">
                        <a:buNone/>
                      </a:pPr>
                      <a:r>
                        <a:rPr lang="en-US" sz="1300" dirty="0">
                          <a:solidFill>
                            <a:srgbClr val="1C2528"/>
                          </a:solidFill>
                        </a:rPr>
                        <a:t>Kök + förvaring</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195</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1 526</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C2528"/>
                          </a:solidFill>
                        </a:rPr>
                        <a:t>1 721</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29 %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C2528"/>
                          </a:solidFill>
                        </a:rPr>
                        <a:t>Våtrum + hall</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73</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414</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b="1" dirty="0">
                          <a:solidFill>
                            <a:srgbClr val="1C2528"/>
                          </a:solidFill>
                        </a:rPr>
                        <a:t>487</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8 %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r>
              <a:tr h="329184">
                <a:tc>
                  <a:txBody>
                    <a:bodyPr/>
                    <a:lstStyle/>
                    <a:p>
                      <a:pPr indent="0" marL="0">
                        <a:buNone/>
                      </a:pPr>
                      <a:r>
                        <a:rPr lang="en-US" sz="1300" dirty="0">
                          <a:solidFill>
                            <a:srgbClr val="1C2528"/>
                          </a:solidFill>
                        </a:rPr>
                        <a:t>Kök</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117</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312</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29</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C2528"/>
                          </a:solidFill>
                        </a:rPr>
                        <a:t>458</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8 %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C2528"/>
                          </a:solidFill>
                        </a:rPr>
                        <a:t>Kök + våtrum</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169</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b="1" dirty="0">
                          <a:solidFill>
                            <a:srgbClr val="1C2528"/>
                          </a:solidFill>
                        </a:rPr>
                        <a:t>169</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3 %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r>
              <a:tr h="329184">
                <a:tc>
                  <a:txBody>
                    <a:bodyPr/>
                    <a:lstStyle/>
                    <a:p>
                      <a:pPr indent="0" marL="0">
                        <a:buNone/>
                      </a:pPr>
                      <a:r>
                        <a:rPr lang="en-US" sz="1300" dirty="0">
                          <a:solidFill>
                            <a:srgbClr val="1C2528"/>
                          </a:solidFill>
                        </a:rPr>
                        <a:t>Badrum &amp; bastu</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12</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68</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77</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C2528"/>
                          </a:solidFill>
                        </a:rPr>
                        <a:t>158</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3 %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C2528"/>
                          </a:solidFill>
                        </a:rPr>
                        <a:t>Projektering</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148</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b="1" dirty="0">
                          <a:solidFill>
                            <a:srgbClr val="1C2528"/>
                          </a:solidFill>
                        </a:rPr>
                        <a:t>148</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2 %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r>
              <a:tr h="329184">
                <a:tc>
                  <a:txBody>
                    <a:bodyPr/>
                    <a:lstStyle/>
                    <a:p>
                      <a:pPr indent="0" marL="0">
                        <a:buNone/>
                      </a:pPr>
                      <a:r>
                        <a:rPr lang="en-US" sz="1300" dirty="0">
                          <a:solidFill>
                            <a:srgbClr val="1C2528"/>
                          </a:solidFill>
                        </a:rPr>
                        <a:t>Sovrum &amp; garderober</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126</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C2528"/>
                          </a:solidFill>
                        </a:rPr>
                        <a:t>126</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2 %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C2528"/>
                          </a:solidFill>
                        </a:rPr>
                        <a:t>Vardagsrum &amp; matsal</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86</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b="1" dirty="0">
                          <a:solidFill>
                            <a:srgbClr val="1C2528"/>
                          </a:solidFill>
                        </a:rPr>
                        <a:t>86</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1 %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r>
              <a:tr h="329184">
                <a:tc>
                  <a:txBody>
                    <a:bodyPr/>
                    <a:lstStyle/>
                    <a:p>
                      <a:pPr indent="0" marL="0">
                        <a:buNone/>
                      </a:pPr>
                      <a:r>
                        <a:rPr lang="en-US" sz="1300" dirty="0">
                          <a:solidFill>
                            <a:srgbClr val="1C2528"/>
                          </a:solidFill>
                        </a:rPr>
                        <a:t>Hall &amp; korridor</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44</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C2528"/>
                          </a:solidFill>
                        </a:rPr>
                        <a:t>44</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528"/>
                          </a:solidFill>
                        </a:rPr>
                        <a:t>1 %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C2528"/>
                          </a:solidFill>
                        </a:rPr>
                        <a:t>WC</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28</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b="1" dirty="0">
                          <a:solidFill>
                            <a:srgbClr val="1C2528"/>
                          </a:solidFill>
                        </a:rPr>
                        <a:t>28</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c>
                  <a:txBody>
                    <a:bodyPr/>
                    <a:lstStyle/>
                    <a:p>
                      <a:pPr algn="r" indent="0" marL="0">
                        <a:buNone/>
                      </a:pPr>
                      <a:r>
                        <a:rPr lang="en-US" sz="1300" dirty="0">
                          <a:solidFill>
                            <a:srgbClr val="1C2528"/>
                          </a:solidFill>
                        </a:rPr>
                        <a:t>0 %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solidFill>
                      <a:srgbClr val="F1F2EE"/>
                    </a:solidFill>
                  </a:tcPr>
                </a:tc>
              </a:tr>
              <a:tr h="329184">
                <a:tc>
                  <a:txBody>
                    <a:bodyPr/>
                    <a:lstStyle/>
                    <a:p>
                      <a:pPr indent="0" marL="0">
                        <a:buNone/>
                      </a:pPr>
                      <a:r>
                        <a:rPr lang="en-US" sz="1300" b="1" dirty="0">
                          <a:solidFill>
                            <a:srgbClr val="1C2528"/>
                          </a:solidFill>
                        </a:rPr>
                        <a:t>Totalt</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b="1" dirty="0">
                          <a:solidFill>
                            <a:srgbClr val="1C2528"/>
                          </a:solidFill>
                        </a:rPr>
                        <a:t>1 131</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b="1" dirty="0">
                          <a:solidFill>
                            <a:srgbClr val="1C2528"/>
                          </a:solidFill>
                        </a:rPr>
                        <a:t>2 214</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b="1" dirty="0">
                          <a:solidFill>
                            <a:srgbClr val="1C2528"/>
                          </a:solidFill>
                        </a:rPr>
                        <a:t>2 426</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b="1" dirty="0">
                          <a:solidFill>
                            <a:srgbClr val="1C2528"/>
                          </a:solidFill>
                        </a:rPr>
                        <a:t>172</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b="1" dirty="0">
                          <a:solidFill>
                            <a:srgbClr val="1C2528"/>
                          </a:solidFill>
                        </a:rPr>
                        <a:t>5 942</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b="1" dirty="0">
                          <a:solidFill>
                            <a:srgbClr val="1C2528"/>
                          </a:solidFill>
                        </a:rPr>
                        <a:t>100 %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r>
              <a:tr h="329184">
                <a:tc>
                  <a:txBody>
                    <a:bodyPr/>
                    <a:lstStyle/>
                    <a:p>
                      <a:pPr indent="0" marL="0">
                        <a:buNone/>
                      </a:pPr>
                      <a:r>
                        <a:rPr lang="en-US" sz="1300" dirty="0">
                          <a:solidFill>
                            <a:srgbClr val="4A5658"/>
                          </a:solidFill>
                        </a:rPr>
                        <a:t>Andel</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dirty="0">
                          <a:solidFill>
                            <a:srgbClr val="4A5658"/>
                          </a:solidFill>
                        </a:rPr>
                        <a:t>19 %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dirty="0">
                          <a:solidFill>
                            <a:srgbClr val="4A5658"/>
                          </a:solidFill>
                        </a:rPr>
                        <a:t>37 %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dirty="0">
                          <a:solidFill>
                            <a:srgbClr val="4A5658"/>
                          </a:solidFill>
                        </a:rPr>
                        <a:t>41 %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algn="r" indent="0" marL="0">
                        <a:buNone/>
                      </a:pPr>
                      <a:r>
                        <a:rPr lang="en-US" sz="1300" dirty="0">
                          <a:solidFill>
                            <a:srgbClr val="4A5658"/>
                          </a:solidFill>
                        </a:rPr>
                        <a:t>3 %</a:t>
                      </a: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indent="0" marL="0">
                        <a:buNone/>
                      </a:pP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c>
                  <a:txBody>
                    <a:bodyPr/>
                    <a:lstStyle/>
                    <a:p>
                      <a:pPr indent="0" marL="0">
                        <a:buNone/>
                      </a:pPr>
                      <a:endParaRPr lang="en-US" sz="1300" dirty="0"/>
                    </a:p>
                  </a:txBody>
                  <a:tcPr marL="91440" marR="91440" marT="36576" marB="36576">
                    <a:lnL w="6350" cap="flat" cmpd="sng" algn="ctr">
                      <a:solidFill>
                        <a:srgbClr val="D9DDD5"/>
                      </a:solidFill>
                      <a:prstDash val="solid"/>
                      <a:round/>
                      <a:headEnd type="none" w="med" len="med"/>
                      <a:tailEnd type="none" w="med" len="med"/>
                    </a:lnL>
                    <a:lnR w="6350" cap="flat" cmpd="sng" algn="ctr">
                      <a:solidFill>
                        <a:srgbClr val="D9DDD5"/>
                      </a:solidFill>
                      <a:prstDash val="solid"/>
                      <a:round/>
                      <a:headEnd type="none" w="med" len="med"/>
                      <a:tailEnd type="none" w="med" len="med"/>
                    </a:lnR>
                    <a:lnT w="6350" cap="flat" cmpd="sng" algn="ctr">
                      <a:solidFill>
                        <a:srgbClr val="D9DDD5"/>
                      </a:solidFill>
                      <a:prstDash val="solid"/>
                      <a:round/>
                      <a:headEnd type="none" w="med" len="med"/>
                      <a:tailEnd type="none" w="med" len="med"/>
                    </a:lnT>
                    <a:lnB w="6350" cap="flat" cmpd="sng" algn="ctr">
                      <a:solidFill>
                        <a:srgbClr val="D9DDD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Köket: 2,18 Mkr, varav 1,53 Mkr ospecificerat</a:t>
            </a:r>
            <a:endParaRPr lang="en-US" sz="2800" dirty="0"/>
          </a:p>
        </p:txBody>
      </p:sp>
      <p:graphicFrame>
        <p:nvGraphicFramePr>
          <p:cNvPr id="4" name="chart-kitchen" descr=""/>
          <p:cNvGraphicFramePr/>
          <p:nvPr/>
        </p:nvGraphicFramePr>
        <p:xfrm>
          <a:off x="548640" y="1325880"/>
          <a:ext cx="7498080" cy="4983480"/>
        </p:xfrm>
        <a:graphic xmlns:a="http://schemas.openxmlformats.org/drawingml/2006/main">
          <a:graphicData uri="http://schemas.openxmlformats.org/drawingml/2006/chart">
            <c:chart xmlns:c="http://schemas.openxmlformats.org/drawingml/2006/chart" r:id="rId1"/>
          </a:graphicData>
        </a:graphic>
      </p:graphicFrame>
      <p:sp>
        <p:nvSpPr>
          <p:cNvPr id="5" name="kitchen-commentary-bg"/>
          <p:cNvSpPr/>
          <p:nvPr/>
        </p:nvSpPr>
        <p:spPr>
          <a:xfrm>
            <a:off x="8321040" y="1325880"/>
            <a:ext cx="3291840" cy="4983480"/>
          </a:xfrm>
          <a:prstGeom prst="roundRect">
            <a:avLst>
              <a:gd name="adj" fmla="val 2778"/>
            </a:avLst>
          </a:prstGeom>
          <a:solidFill>
            <a:schemeClr val="bg2"/>
          </a:solidFill>
          <a:ln w="12700">
            <a:solidFill>
              <a:schemeClr val="bg2"/>
            </a:solidFill>
            <a:prstDash val="solid"/>
          </a:ln>
        </p:spPr>
      </p:sp>
      <p:sp>
        <p:nvSpPr>
          <p:cNvPr id="6" name="kitchen-commentary"/>
          <p:cNvSpPr txBox="1"/>
          <p:nvPr/>
        </p:nvSpPr>
        <p:spPr>
          <a:xfrm>
            <a:off x="8549640" y="1508760"/>
            <a:ext cx="2834640" cy="46177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Kök, skåp och garderober</a:t>
            </a:r>
            <a:endParaRPr lang="en-US" sz="1400" dirty="0"/>
          </a:p>
          <a:p>
            <a:pPr indent="0" marL="0">
              <a:spcAft>
                <a:spcPts val="600"/>
              </a:spcAft>
              <a:buNone/>
            </a:pPr>
            <a:r>
              <a:rPr lang="en-US" sz="1400" dirty="0">
                <a:solidFill>
                  <a:schemeClr val="tx1"/>
                </a:solidFill>
              </a:rPr>
              <a:t>1 525 623 kr på en rad. Omfattar även garderober, kommoder och sängstomme, och går inte att dela per rum utan specifikation.</a:t>
            </a:r>
            <a:endParaRPr lang="en-US" sz="1400" dirty="0"/>
          </a:p>
          <a:p>
            <a:pPr indent="0" marL="0">
              <a:spcAft>
                <a:spcPts val="600"/>
              </a:spcAft>
              <a:buNone/>
            </a:pPr>
            <a:r>
              <a:rPr lang="en-US" sz="1600" b="1" dirty="0">
                <a:solidFill>
                  <a:schemeClr val="tx1"/>
                </a:solidFill>
              </a:rPr>
              <a:t>Montering 812,50 kr/h</a:t>
            </a:r>
            <a:endParaRPr lang="en-US" sz="1400" dirty="0"/>
          </a:p>
          <a:p>
            <a:pPr indent="0" marL="0">
              <a:spcAft>
                <a:spcPts val="600"/>
              </a:spcAft>
              <a:buNone/>
            </a:pPr>
            <a:r>
              <a:rPr lang="en-US" sz="1400" dirty="0">
                <a:solidFill>
                  <a:schemeClr val="tx1"/>
                </a:solidFill>
              </a:rPr>
              <a:t>240 h för 195 000 kr. Med avtalade 650 kr/h blir det 156 000 kr.</a:t>
            </a:r>
            <a:endParaRPr lang="en-US" sz="1400" dirty="0"/>
          </a:p>
          <a:p>
            <a:pPr indent="0" marL="0">
              <a:spcAft>
                <a:spcPts val="600"/>
              </a:spcAft>
              <a:buNone/>
            </a:pPr>
            <a:r>
              <a:rPr lang="en-US" sz="1600" b="1" dirty="0">
                <a:solidFill>
                  <a:schemeClr val="tx1"/>
                </a:solidFill>
              </a:rPr>
              <a:t>Glasblocksväggen</a:t>
            </a:r>
            <a:endParaRPr lang="en-US" sz="1400" dirty="0"/>
          </a:p>
          <a:p>
            <a:pPr indent="0" marL="0">
              <a:spcAft>
                <a:spcPts val="600"/>
              </a:spcAft>
              <a:buNone/>
            </a:pPr>
            <a:r>
              <a:rPr lang="en-US" sz="1400" dirty="0">
                <a:solidFill>
                  <a:schemeClr val="tx1"/>
                </a:solidFill>
              </a:rPr>
              <a:t>105 000 kr material + 117 000 kr montering. Konstruktion och lim saknar pris.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Övriga rum: få poster är rumsspecifika</a:t>
            </a:r>
            <a:endParaRPr lang="en-US" sz="2800" dirty="0"/>
          </a:p>
        </p:txBody>
      </p:sp>
      <p:sp>
        <p:nvSpPr>
          <p:cNvPr id="4" name="room-card-1"/>
          <p:cNvSpPr/>
          <p:nvPr/>
        </p:nvSpPr>
        <p:spPr>
          <a:xfrm>
            <a:off x="548640" y="1371600"/>
            <a:ext cx="3474720" cy="2011680"/>
          </a:xfrm>
          <a:prstGeom prst="roundRect">
            <a:avLst>
              <a:gd name="adj" fmla="val 4545"/>
            </a:avLst>
          </a:prstGeom>
          <a:solidFill>
            <a:schemeClr val="bg2"/>
          </a:solidFill>
          <a:ln w="12700">
            <a:solidFill>
              <a:schemeClr val="bg2"/>
            </a:solidFill>
            <a:prstDash val="solid"/>
          </a:ln>
        </p:spPr>
      </p:sp>
      <p:sp>
        <p:nvSpPr>
          <p:cNvPr id="5" name="room-name-1"/>
          <p:cNvSpPr txBox="1"/>
          <p:nvPr/>
        </p:nvSpPr>
        <p:spPr>
          <a:xfrm>
            <a:off x="777240" y="1536192"/>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Badrum &amp; bastu</a:t>
            </a:r>
            <a:endParaRPr lang="en-US" sz="1500" dirty="0"/>
          </a:p>
        </p:txBody>
      </p:sp>
      <p:sp>
        <p:nvSpPr>
          <p:cNvPr id="6" name="room-value-1"/>
          <p:cNvSpPr txBox="1"/>
          <p:nvPr/>
        </p:nvSpPr>
        <p:spPr>
          <a:xfrm>
            <a:off x="777240" y="1901952"/>
            <a:ext cx="30175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157 718 kr</a:t>
            </a:r>
            <a:endParaRPr lang="en-US" sz="2800" dirty="0"/>
          </a:p>
        </p:txBody>
      </p:sp>
      <p:sp>
        <p:nvSpPr>
          <p:cNvPr id="7" name="room-items-1"/>
          <p:cNvSpPr txBox="1"/>
          <p:nvPr/>
        </p:nvSpPr>
        <p:spPr>
          <a:xfrm>
            <a:off x="777240" y="2468880"/>
            <a:ext cx="3017520" cy="777240"/>
          </a:xfrm>
          <a:prstGeom prst="rect">
            <a:avLst/>
          </a:prstGeom>
          <a:noFill/>
          <a:ln/>
        </p:spPr>
        <p:txBody>
          <a:bodyPr wrap="square" lIns="0" tIns="0" rIns="0" bIns="0" rtlCol="0" anchor="t"/>
          <a:lstStyle/>
          <a:p>
            <a:pPr indent="0" marL="0">
              <a:buNone/>
            </a:pPr>
            <a:r>
              <a:rPr lang="en-US" sz="1200" dirty="0">
                <a:solidFill>
                  <a:schemeClr val="tx2"/>
                </a:solidFill>
              </a:rPr>
              <a:t>Smidesdörr dusch 77 000 · duschblandare Dornbracht 31 818 · Uni-drain 12 250 · wc, fixtur, tvättställ, blandare</a:t>
            </a:r>
            <a:endParaRPr lang="en-US" sz="1200" dirty="0"/>
          </a:p>
        </p:txBody>
      </p:sp>
      <p:sp>
        <p:nvSpPr>
          <p:cNvPr id="8" name="room-card-2"/>
          <p:cNvSpPr/>
          <p:nvPr/>
        </p:nvSpPr>
        <p:spPr>
          <a:xfrm>
            <a:off x="4297680" y="1371600"/>
            <a:ext cx="3474720" cy="2011680"/>
          </a:xfrm>
          <a:prstGeom prst="roundRect">
            <a:avLst>
              <a:gd name="adj" fmla="val 4545"/>
            </a:avLst>
          </a:prstGeom>
          <a:solidFill>
            <a:schemeClr val="bg2"/>
          </a:solidFill>
          <a:ln w="12700">
            <a:solidFill>
              <a:schemeClr val="bg2"/>
            </a:solidFill>
            <a:prstDash val="solid"/>
          </a:ln>
        </p:spPr>
      </p:sp>
      <p:sp>
        <p:nvSpPr>
          <p:cNvPr id="9" name="room-name-2"/>
          <p:cNvSpPr txBox="1"/>
          <p:nvPr/>
        </p:nvSpPr>
        <p:spPr>
          <a:xfrm>
            <a:off x="4526280" y="1536192"/>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Sovrum &amp; garderober</a:t>
            </a:r>
            <a:endParaRPr lang="en-US" sz="1500" dirty="0"/>
          </a:p>
        </p:txBody>
      </p:sp>
      <p:sp>
        <p:nvSpPr>
          <p:cNvPr id="10" name="room-value-2"/>
          <p:cNvSpPr txBox="1"/>
          <p:nvPr/>
        </p:nvSpPr>
        <p:spPr>
          <a:xfrm>
            <a:off x="4526280" y="1901952"/>
            <a:ext cx="30175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126 000 kr</a:t>
            </a:r>
            <a:endParaRPr lang="en-US" sz="2800" dirty="0"/>
          </a:p>
        </p:txBody>
      </p:sp>
      <p:sp>
        <p:nvSpPr>
          <p:cNvPr id="11" name="room-items-2"/>
          <p:cNvSpPr txBox="1"/>
          <p:nvPr/>
        </p:nvSpPr>
        <p:spPr>
          <a:xfrm>
            <a:off x="4526280" y="2468880"/>
            <a:ext cx="3017520" cy="777240"/>
          </a:xfrm>
          <a:prstGeom prst="rect">
            <a:avLst/>
          </a:prstGeom>
          <a:noFill/>
          <a:ln/>
        </p:spPr>
        <p:txBody>
          <a:bodyPr wrap="square" lIns="0" tIns="0" rIns="0" bIns="0" rtlCol="0" anchor="t"/>
          <a:lstStyle/>
          <a:p>
            <a:pPr indent="0" marL="0">
              <a:buNone/>
            </a:pPr>
            <a:r>
              <a:rPr lang="en-US" sz="1200" dirty="0">
                <a:solidFill>
                  <a:schemeClr val="tx2"/>
                </a:solidFill>
              </a:rPr>
              <a:t>Heltäckningsmatta Object Carpet, cirka 33 m², 126 000</a:t>
            </a:r>
            <a:endParaRPr lang="en-US" sz="1200" dirty="0"/>
          </a:p>
        </p:txBody>
      </p:sp>
      <p:sp>
        <p:nvSpPr>
          <p:cNvPr id="12" name="room-card-3"/>
          <p:cNvSpPr/>
          <p:nvPr/>
        </p:nvSpPr>
        <p:spPr>
          <a:xfrm>
            <a:off x="8046720" y="1371600"/>
            <a:ext cx="3474720" cy="2011680"/>
          </a:xfrm>
          <a:prstGeom prst="roundRect">
            <a:avLst>
              <a:gd name="adj" fmla="val 4545"/>
            </a:avLst>
          </a:prstGeom>
          <a:solidFill>
            <a:schemeClr val="bg2"/>
          </a:solidFill>
          <a:ln w="12700">
            <a:solidFill>
              <a:schemeClr val="bg2"/>
            </a:solidFill>
            <a:prstDash val="solid"/>
          </a:ln>
        </p:spPr>
      </p:sp>
      <p:sp>
        <p:nvSpPr>
          <p:cNvPr id="13" name="room-name-3"/>
          <p:cNvSpPr txBox="1"/>
          <p:nvPr/>
        </p:nvSpPr>
        <p:spPr>
          <a:xfrm>
            <a:off x="8275320" y="1536192"/>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Vardagsrum &amp; matsal</a:t>
            </a:r>
            <a:endParaRPr lang="en-US" sz="1500" dirty="0"/>
          </a:p>
        </p:txBody>
      </p:sp>
      <p:sp>
        <p:nvSpPr>
          <p:cNvPr id="14" name="room-value-3"/>
          <p:cNvSpPr txBox="1"/>
          <p:nvPr/>
        </p:nvSpPr>
        <p:spPr>
          <a:xfrm>
            <a:off x="8275320" y="1901952"/>
            <a:ext cx="30175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85 875 kr</a:t>
            </a:r>
            <a:endParaRPr lang="en-US" sz="2800" dirty="0"/>
          </a:p>
        </p:txBody>
      </p:sp>
      <p:sp>
        <p:nvSpPr>
          <p:cNvPr id="15" name="room-items-3"/>
          <p:cNvSpPr txBox="1"/>
          <p:nvPr/>
        </p:nvSpPr>
        <p:spPr>
          <a:xfrm>
            <a:off x="8275320" y="2468880"/>
            <a:ext cx="3017520" cy="777240"/>
          </a:xfrm>
          <a:prstGeom prst="rect">
            <a:avLst/>
          </a:prstGeom>
          <a:noFill/>
          <a:ln/>
        </p:spPr>
        <p:txBody>
          <a:bodyPr wrap="square" lIns="0" tIns="0" rIns="0" bIns="0" rtlCol="0" anchor="t"/>
          <a:lstStyle/>
          <a:p>
            <a:pPr indent="0" marL="0">
              <a:buNone/>
            </a:pPr>
            <a:r>
              <a:rPr lang="en-US" sz="1200" dirty="0">
                <a:solidFill>
                  <a:schemeClr val="tx2"/>
                </a:solidFill>
              </a:rPr>
              <a:t>Fiskbensparkett med slipning och hårdvaxolja, 85 875</a:t>
            </a:r>
            <a:endParaRPr lang="en-US" sz="1200" dirty="0"/>
          </a:p>
        </p:txBody>
      </p:sp>
      <p:sp>
        <p:nvSpPr>
          <p:cNvPr id="16" name="room-card-4"/>
          <p:cNvSpPr/>
          <p:nvPr/>
        </p:nvSpPr>
        <p:spPr>
          <a:xfrm>
            <a:off x="548640" y="3611880"/>
            <a:ext cx="3474720" cy="2011680"/>
          </a:xfrm>
          <a:prstGeom prst="roundRect">
            <a:avLst>
              <a:gd name="adj" fmla="val 4545"/>
            </a:avLst>
          </a:prstGeom>
          <a:solidFill>
            <a:schemeClr val="bg2"/>
          </a:solidFill>
          <a:ln w="12700">
            <a:solidFill>
              <a:schemeClr val="bg2"/>
            </a:solidFill>
            <a:prstDash val="solid"/>
          </a:ln>
        </p:spPr>
      </p:sp>
      <p:sp>
        <p:nvSpPr>
          <p:cNvPr id="17" name="room-name-4"/>
          <p:cNvSpPr txBox="1"/>
          <p:nvPr/>
        </p:nvSpPr>
        <p:spPr>
          <a:xfrm>
            <a:off x="777240" y="3776472"/>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Hall &amp; korridor</a:t>
            </a:r>
            <a:endParaRPr lang="en-US" sz="1500" dirty="0"/>
          </a:p>
        </p:txBody>
      </p:sp>
      <p:sp>
        <p:nvSpPr>
          <p:cNvPr id="18" name="room-value-4"/>
          <p:cNvSpPr txBox="1"/>
          <p:nvPr/>
        </p:nvSpPr>
        <p:spPr>
          <a:xfrm>
            <a:off x="777240" y="4142232"/>
            <a:ext cx="30175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43 750 kr</a:t>
            </a:r>
            <a:endParaRPr lang="en-US" sz="2800" dirty="0"/>
          </a:p>
        </p:txBody>
      </p:sp>
      <p:sp>
        <p:nvSpPr>
          <p:cNvPr id="19" name="room-items-4"/>
          <p:cNvSpPr txBox="1"/>
          <p:nvPr/>
        </p:nvSpPr>
        <p:spPr>
          <a:xfrm>
            <a:off x="777240" y="4709160"/>
            <a:ext cx="3017520" cy="777240"/>
          </a:xfrm>
          <a:prstGeom prst="rect">
            <a:avLst/>
          </a:prstGeom>
          <a:noFill/>
          <a:ln/>
        </p:spPr>
        <p:txBody>
          <a:bodyPr wrap="square" lIns="0" tIns="0" rIns="0" bIns="0" rtlCol="0" anchor="t"/>
          <a:lstStyle/>
          <a:p>
            <a:pPr indent="0" marL="0">
              <a:buNone/>
            </a:pPr>
            <a:r>
              <a:rPr lang="en-US" sz="1200" dirty="0">
                <a:solidFill>
                  <a:schemeClr val="tx2"/>
                </a:solidFill>
              </a:rPr>
              <a:t>Fris i trä runt stenen i korridoren, 43 750</a:t>
            </a:r>
            <a:endParaRPr lang="en-US" sz="1200" dirty="0"/>
          </a:p>
        </p:txBody>
      </p:sp>
      <p:sp>
        <p:nvSpPr>
          <p:cNvPr id="20" name="room-card-5"/>
          <p:cNvSpPr/>
          <p:nvPr/>
        </p:nvSpPr>
        <p:spPr>
          <a:xfrm>
            <a:off x="4297680" y="3611880"/>
            <a:ext cx="3474720" cy="2011680"/>
          </a:xfrm>
          <a:prstGeom prst="roundRect">
            <a:avLst>
              <a:gd name="adj" fmla="val 4545"/>
            </a:avLst>
          </a:prstGeom>
          <a:solidFill>
            <a:schemeClr val="bg2"/>
          </a:solidFill>
          <a:ln w="12700">
            <a:solidFill>
              <a:schemeClr val="bg2"/>
            </a:solidFill>
            <a:prstDash val="solid"/>
          </a:ln>
        </p:spPr>
      </p:sp>
      <p:sp>
        <p:nvSpPr>
          <p:cNvPr id="21" name="room-name-5"/>
          <p:cNvSpPr txBox="1"/>
          <p:nvPr/>
        </p:nvSpPr>
        <p:spPr>
          <a:xfrm>
            <a:off x="4526280" y="3776472"/>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WC</a:t>
            </a:r>
            <a:endParaRPr lang="en-US" sz="1500" dirty="0"/>
          </a:p>
        </p:txBody>
      </p:sp>
      <p:sp>
        <p:nvSpPr>
          <p:cNvPr id="22" name="room-value-5"/>
          <p:cNvSpPr txBox="1"/>
          <p:nvPr/>
        </p:nvSpPr>
        <p:spPr>
          <a:xfrm>
            <a:off x="4526280" y="4142232"/>
            <a:ext cx="30175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28 279 kr</a:t>
            </a:r>
            <a:endParaRPr lang="en-US" sz="2800" dirty="0"/>
          </a:p>
        </p:txBody>
      </p:sp>
      <p:sp>
        <p:nvSpPr>
          <p:cNvPr id="23" name="room-items-5"/>
          <p:cNvSpPr txBox="1"/>
          <p:nvPr/>
        </p:nvSpPr>
        <p:spPr>
          <a:xfrm>
            <a:off x="4526280" y="4709160"/>
            <a:ext cx="3017520" cy="777240"/>
          </a:xfrm>
          <a:prstGeom prst="rect">
            <a:avLst/>
          </a:prstGeom>
          <a:noFill/>
          <a:ln/>
        </p:spPr>
        <p:txBody>
          <a:bodyPr wrap="square" lIns="0" tIns="0" rIns="0" bIns="0" rtlCol="0" anchor="t"/>
          <a:lstStyle/>
          <a:p>
            <a:pPr indent="0" marL="0">
              <a:buNone/>
            </a:pPr>
            <a:r>
              <a:rPr lang="en-US" sz="1200" dirty="0">
                <a:solidFill>
                  <a:schemeClr val="tx2"/>
                </a:solidFill>
              </a:rPr>
              <a:t>Fixtur, vägghängd wc, tvättställsblandare och spolplatta</a:t>
            </a:r>
            <a:endParaRPr lang="en-US" sz="1200" dirty="0"/>
          </a:p>
        </p:txBody>
      </p:sp>
      <p:sp>
        <p:nvSpPr>
          <p:cNvPr id="24" name="shared-card"/>
          <p:cNvSpPr/>
          <p:nvPr/>
        </p:nvSpPr>
        <p:spPr>
          <a:xfrm>
            <a:off x="8046720" y="3611880"/>
            <a:ext cx="3566160" cy="2011680"/>
          </a:xfrm>
          <a:prstGeom prst="roundRect">
            <a:avLst>
              <a:gd name="adj" fmla="val 4545"/>
            </a:avLst>
          </a:prstGeom>
          <a:solidFill>
            <a:schemeClr val="tx1"/>
          </a:solidFill>
          <a:ln w="12700">
            <a:solidFill>
              <a:schemeClr val="tx1"/>
            </a:solidFill>
            <a:prstDash val="solid"/>
          </a:ln>
        </p:spPr>
      </p:sp>
      <p:sp>
        <p:nvSpPr>
          <p:cNvPr id="25" name="shared-text"/>
          <p:cNvSpPr txBox="1"/>
          <p:nvPr/>
        </p:nvSpPr>
        <p:spPr>
          <a:xfrm>
            <a:off x="8275320" y="3776472"/>
            <a:ext cx="3108960" cy="1691640"/>
          </a:xfrm>
          <a:prstGeom prst="rect">
            <a:avLst/>
          </a:prstGeom>
          <a:noFill/>
          <a:ln/>
        </p:spPr>
        <p:txBody>
          <a:bodyPr wrap="square" lIns="0" tIns="0" rIns="0" bIns="0" rtlCol="0" anchor="t"/>
          <a:lstStyle/>
          <a:p>
            <a:pPr indent="0" marL="0">
              <a:spcAft>
                <a:spcPts val="400"/>
              </a:spcAft>
              <a:buNone/>
            </a:pPr>
            <a:r>
              <a:rPr lang="en-US" sz="1500" b="1" dirty="0">
                <a:solidFill>
                  <a:schemeClr val="bg1"/>
                </a:solidFill>
              </a:rPr>
              <a:t>Delas mellan rummen</a:t>
            </a:r>
            <a:endParaRPr lang="en-US" sz="1500" dirty="0"/>
          </a:p>
          <a:p>
            <a:pPr indent="0" marL="0">
              <a:spcAft>
                <a:spcPts val="400"/>
              </a:spcAft>
              <a:buNone/>
            </a:pPr>
            <a:r>
              <a:rPr lang="en-US" sz="1300" dirty="0">
                <a:solidFill>
                  <a:schemeClr val="accent4"/>
                </a:solidFill>
              </a:rPr>
              <a:t>Plattor, sten, klinker: 487 tkr</a:t>
            </a:r>
            <a:endParaRPr lang="en-US" sz="1500" dirty="0"/>
          </a:p>
          <a:p>
            <a:pPr indent="0" marL="0">
              <a:spcAft>
                <a:spcPts val="400"/>
              </a:spcAft>
              <a:buNone/>
            </a:pPr>
            <a:r>
              <a:rPr lang="en-US" sz="1300" dirty="0">
                <a:solidFill>
                  <a:schemeClr val="accent4"/>
                </a:solidFill>
              </a:rPr>
              <a:t>Rör och ventilation: 169 tkr</a:t>
            </a:r>
            <a:endParaRPr lang="en-US" sz="1500" dirty="0"/>
          </a:p>
          <a:p>
            <a:pPr indent="0" marL="0">
              <a:spcAft>
                <a:spcPts val="400"/>
              </a:spcAft>
              <a:buNone/>
            </a:pPr>
            <a:r>
              <a:rPr lang="en-US" sz="1200" dirty="0">
                <a:solidFill>
                  <a:schemeClr val="bg1"/>
                </a:solidFill>
              </a:rPr>
              <a:t>Inte fördelat på rum i offerten.</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72 % arbete hittills, framåt mest material</a:t>
            </a:r>
            <a:endParaRPr lang="en-US" sz="2800" dirty="0"/>
          </a:p>
        </p:txBody>
      </p:sp>
      <p:sp>
        <p:nvSpPr>
          <p:cNvPr id="4" name="donut1-title"/>
          <p:cNvSpPr txBox="1"/>
          <p:nvPr/>
        </p:nvSpPr>
        <p:spPr>
          <a:xfrm>
            <a:off x="548640" y="1280160"/>
            <a:ext cx="5486400" cy="365760"/>
          </a:xfrm>
          <a:prstGeom prst="rect">
            <a:avLst/>
          </a:prstGeom>
          <a:noFill/>
          <a:ln/>
        </p:spPr>
        <p:txBody>
          <a:bodyPr wrap="square" lIns="0" tIns="0" rIns="0" bIns="0" rtlCol="0" anchor="ctr"/>
          <a:lstStyle/>
          <a:p>
            <a:pPr indent="0" marL="0">
              <a:buNone/>
            </a:pPr>
            <a:r>
              <a:rPr lang="en-US" sz="1600" b="1" dirty="0">
                <a:solidFill>
                  <a:schemeClr val="tx1"/>
                </a:solidFill>
              </a:rPr>
              <a:t>Fakturerat hittills: 0,93 Mkr</a:t>
            </a:r>
            <a:endParaRPr lang="en-US" sz="1600" dirty="0"/>
          </a:p>
        </p:txBody>
      </p:sp>
      <p:graphicFrame>
        <p:nvGraphicFramePr>
          <p:cNvPr id="5" name="chart-spent" descr=""/>
          <p:cNvGraphicFramePr/>
          <p:nvPr/>
        </p:nvGraphicFramePr>
        <p:xfrm>
          <a:off x="548640" y="169164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6" name="donut2-title"/>
          <p:cNvSpPr txBox="1"/>
          <p:nvPr/>
        </p:nvSpPr>
        <p:spPr>
          <a:xfrm>
            <a:off x="6126480" y="1280160"/>
            <a:ext cx="5486400" cy="365760"/>
          </a:xfrm>
          <a:prstGeom prst="rect">
            <a:avLst/>
          </a:prstGeom>
          <a:noFill/>
          <a:ln/>
        </p:spPr>
        <p:txBody>
          <a:bodyPr wrap="square" lIns="0" tIns="0" rIns="0" bIns="0" rtlCol="0" anchor="ctr"/>
          <a:lstStyle/>
          <a:p>
            <a:pPr indent="0" marL="0">
              <a:buNone/>
            </a:pPr>
            <a:r>
              <a:rPr lang="en-US" sz="1600" b="1" dirty="0">
                <a:solidFill>
                  <a:schemeClr val="tx1"/>
                </a:solidFill>
              </a:rPr>
              <a:t>Hela justerade budgeten: 5,94 Mkr</a:t>
            </a:r>
            <a:endParaRPr lang="en-US" sz="1600" dirty="0"/>
          </a:p>
        </p:txBody>
      </p:sp>
      <p:graphicFrame>
        <p:nvGraphicFramePr>
          <p:cNvPr id="7" name="chart-budget" descr=""/>
          <p:cNvGraphicFramePr/>
          <p:nvPr/>
        </p:nvGraphicFramePr>
        <p:xfrm>
          <a:off x="6126480" y="1691640"/>
          <a:ext cx="5486400" cy="42062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2,4 Mkr är arbete och material i samma belopp</a:t>
            </a:r>
            <a:endParaRPr lang="en-US" sz="2800" dirty="0"/>
          </a:p>
        </p:txBody>
      </p:sp>
      <p:graphicFrame>
        <p:nvGraphicFramePr>
          <p:cNvPr id="4" name="chart-mixed" descr=""/>
          <p:cNvGraphicFramePr/>
          <p:nvPr/>
        </p:nvGraphicFramePr>
        <p:xfrm>
          <a:off x="548640" y="1325880"/>
          <a:ext cx="7223760" cy="4983480"/>
        </p:xfrm>
        <a:graphic xmlns:a="http://schemas.openxmlformats.org/drawingml/2006/main">
          <a:graphicData uri="http://schemas.openxmlformats.org/drawingml/2006/chart">
            <c:chart xmlns:c="http://schemas.openxmlformats.org/drawingml/2006/chart" r:id="rId1"/>
          </a:graphicData>
        </a:graphic>
      </p:graphicFrame>
      <p:sp>
        <p:nvSpPr>
          <p:cNvPr id="5" name="mixed-commentary-bg"/>
          <p:cNvSpPr/>
          <p:nvPr/>
        </p:nvSpPr>
        <p:spPr>
          <a:xfrm>
            <a:off x="8046720" y="1325880"/>
            <a:ext cx="3566160" cy="4983480"/>
          </a:xfrm>
          <a:prstGeom prst="roundRect">
            <a:avLst>
              <a:gd name="adj" fmla="val 2564"/>
            </a:avLst>
          </a:prstGeom>
          <a:solidFill>
            <a:schemeClr val="bg2"/>
          </a:solidFill>
          <a:ln w="12700">
            <a:solidFill>
              <a:schemeClr val="bg2"/>
            </a:solidFill>
            <a:prstDash val="solid"/>
          </a:ln>
        </p:spPr>
      </p:sp>
      <p:sp>
        <p:nvSpPr>
          <p:cNvPr id="6" name="mixed-commentary"/>
          <p:cNvSpPr txBox="1"/>
          <p:nvPr/>
        </p:nvSpPr>
        <p:spPr>
          <a:xfrm>
            <a:off x="8275320" y="1508760"/>
            <a:ext cx="3108960" cy="46177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Varför det spelar roll</a:t>
            </a:r>
            <a:endParaRPr lang="en-US" sz="1400" dirty="0"/>
          </a:p>
          <a:p>
            <a:pPr indent="0" marL="0">
              <a:spcAft>
                <a:spcPts val="600"/>
              </a:spcAft>
              <a:buNone/>
            </a:pPr>
            <a:r>
              <a:rPr lang="en-US" sz="1400" dirty="0">
                <a:solidFill>
                  <a:schemeClr val="tx1"/>
                </a:solidFill>
              </a:rPr>
              <a:t>ROT gäller bara arbete. Varje 100 000 kr som visar sig vara arbete ger 30 000 kr i avdrag, inom taket.</a:t>
            </a:r>
            <a:endParaRPr lang="en-US" sz="1400" dirty="0"/>
          </a:p>
          <a:p>
            <a:pPr indent="0" marL="0">
              <a:spcAft>
                <a:spcPts val="600"/>
              </a:spcAft>
              <a:buNone/>
            </a:pPr>
            <a:r>
              <a:rPr lang="en-US" sz="1400" dirty="0">
                <a:solidFill>
                  <a:schemeClr val="tx1"/>
                </a:solidFill>
              </a:rPr>
              <a:t>Timpriserna går inte att kontrollera mot avtalet när timmarna inte redovisas.</a:t>
            </a:r>
            <a:endParaRPr lang="en-US" sz="1400" dirty="0"/>
          </a:p>
          <a:p>
            <a:pPr indent="0" marL="0">
              <a:spcAft>
                <a:spcPts val="600"/>
              </a:spcAft>
              <a:buNone/>
            </a:pPr>
            <a:r>
              <a:rPr lang="en-US" sz="1600" b="1" dirty="0">
                <a:solidFill>
                  <a:schemeClr val="tx1"/>
                </a:solidFill>
              </a:rPr>
              <a:t>Be Thessén om</a:t>
            </a:r>
            <a:endParaRPr lang="en-US" sz="1400" dirty="0"/>
          </a:p>
          <a:p>
            <a:pPr indent="0" marL="0">
              <a:spcAft>
                <a:spcPts val="600"/>
              </a:spcAft>
              <a:buNone/>
            </a:pPr>
            <a:r>
              <a:rPr lang="en-US" sz="1400" dirty="0">
                <a:solidFill>
                  <a:schemeClr val="tx1"/>
                </a:solidFill>
              </a:rPr>
              <a:t>timmar, à-pris och material per post, och i första hand för ÄTA 3 el (494 tkr).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Så är siffrorna framtagna</a:t>
            </a:r>
            <a:endParaRPr lang="en-US" sz="2800" dirty="0"/>
          </a:p>
        </p:txBody>
      </p:sp>
      <p:sp>
        <p:nvSpPr>
          <p:cNvPr id="4" name="method-dot-1"/>
          <p:cNvSpPr/>
          <p:nvPr/>
        </p:nvSpPr>
        <p:spPr>
          <a:xfrm>
            <a:off x="548640" y="1417320"/>
            <a:ext cx="384048" cy="384048"/>
          </a:xfrm>
          <a:prstGeom prst="ellipse">
            <a:avLst/>
          </a:prstGeom>
          <a:solidFill>
            <a:schemeClr val="accent1"/>
          </a:solidFill>
          <a:ln w="12700">
            <a:solidFill>
              <a:schemeClr val="accent1"/>
            </a:solidFill>
            <a:prstDash val="solid"/>
          </a:ln>
        </p:spPr>
      </p:sp>
      <p:sp>
        <p:nvSpPr>
          <p:cNvPr id="5" name="method-num-1"/>
          <p:cNvSpPr txBox="1"/>
          <p:nvPr/>
        </p:nvSpPr>
        <p:spPr>
          <a:xfrm>
            <a:off x="548640" y="14173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method-head-1"/>
          <p:cNvSpPr txBox="1"/>
          <p:nvPr/>
        </p:nvSpPr>
        <p:spPr>
          <a:xfrm>
            <a:off x="1143000" y="1371600"/>
            <a:ext cx="3108960" cy="502920"/>
          </a:xfrm>
          <a:prstGeom prst="rect">
            <a:avLst/>
          </a:prstGeom>
          <a:noFill/>
          <a:ln/>
        </p:spPr>
        <p:txBody>
          <a:bodyPr wrap="square" lIns="0" tIns="0" rIns="0" bIns="0" rtlCol="0" anchor="ctr"/>
          <a:lstStyle/>
          <a:p>
            <a:pPr indent="0" marL="0">
              <a:buNone/>
            </a:pPr>
            <a:r>
              <a:rPr lang="en-US" sz="1500" b="1" dirty="0">
                <a:solidFill>
                  <a:schemeClr val="tx1"/>
                </a:solidFill>
              </a:rPr>
              <a:t>Underlag</a:t>
            </a:r>
            <a:endParaRPr lang="en-US" sz="1500" dirty="0"/>
          </a:p>
        </p:txBody>
      </p:sp>
      <p:sp>
        <p:nvSpPr>
          <p:cNvPr id="7" name="method-text-1"/>
          <p:cNvSpPr txBox="1"/>
          <p:nvPr/>
        </p:nvSpPr>
        <p:spPr>
          <a:xfrm>
            <a:off x="4389120" y="1371600"/>
            <a:ext cx="7223760" cy="685800"/>
          </a:xfrm>
          <a:prstGeom prst="rect">
            <a:avLst/>
          </a:prstGeom>
          <a:noFill/>
          <a:ln/>
        </p:spPr>
        <p:txBody>
          <a:bodyPr wrap="square" lIns="0" tIns="0" rIns="0" bIns="0" rtlCol="0" anchor="t"/>
          <a:lstStyle/>
          <a:p>
            <a:pPr indent="0" marL="0">
              <a:buNone/>
            </a:pPr>
            <a:r>
              <a:rPr lang="en-US" sz="1400" dirty="0">
                <a:solidFill>
                  <a:schemeClr val="tx2"/>
                </a:solidFill>
              </a:rPr>
              <a:t>Ny budget i kostnadsappen 16 okt: D2058 rev 1, ÄTA 1–6, fakturor till och med 132396 och 9260.</a:t>
            </a:r>
            <a:endParaRPr lang="en-US" sz="1400" dirty="0"/>
          </a:p>
        </p:txBody>
      </p:sp>
      <p:sp>
        <p:nvSpPr>
          <p:cNvPr id="8" name="method-dot-2"/>
          <p:cNvSpPr/>
          <p:nvPr/>
        </p:nvSpPr>
        <p:spPr>
          <a:xfrm>
            <a:off x="548640" y="2221992"/>
            <a:ext cx="384048" cy="384048"/>
          </a:xfrm>
          <a:prstGeom prst="ellipse">
            <a:avLst/>
          </a:prstGeom>
          <a:solidFill>
            <a:schemeClr val="accent1"/>
          </a:solidFill>
          <a:ln w="12700">
            <a:solidFill>
              <a:schemeClr val="accent1"/>
            </a:solidFill>
            <a:prstDash val="solid"/>
          </a:ln>
        </p:spPr>
      </p:sp>
      <p:sp>
        <p:nvSpPr>
          <p:cNvPr id="9" name="method-num-2"/>
          <p:cNvSpPr txBox="1"/>
          <p:nvPr/>
        </p:nvSpPr>
        <p:spPr>
          <a:xfrm>
            <a:off x="548640" y="22219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method-head-2"/>
          <p:cNvSpPr txBox="1"/>
          <p:nvPr/>
        </p:nvSpPr>
        <p:spPr>
          <a:xfrm>
            <a:off x="1143000" y="2176272"/>
            <a:ext cx="3108960" cy="502920"/>
          </a:xfrm>
          <a:prstGeom prst="rect">
            <a:avLst/>
          </a:prstGeom>
          <a:noFill/>
          <a:ln/>
        </p:spPr>
        <p:txBody>
          <a:bodyPr wrap="square" lIns="0" tIns="0" rIns="0" bIns="0" rtlCol="0" anchor="ctr"/>
          <a:lstStyle/>
          <a:p>
            <a:pPr indent="0" marL="0">
              <a:buNone/>
            </a:pPr>
            <a:r>
              <a:rPr lang="en-US" sz="1500" b="1" dirty="0">
                <a:solidFill>
                  <a:schemeClr val="tx1"/>
                </a:solidFill>
              </a:rPr>
              <a:t>Valda alternativ</a:t>
            </a:r>
            <a:endParaRPr lang="en-US" sz="1500" dirty="0"/>
          </a:p>
        </p:txBody>
      </p:sp>
      <p:sp>
        <p:nvSpPr>
          <p:cNvPr id="11" name="method-text-2"/>
          <p:cNvSpPr txBox="1"/>
          <p:nvPr/>
        </p:nvSpPr>
        <p:spPr>
          <a:xfrm>
            <a:off x="4389120" y="2176272"/>
            <a:ext cx="7223760" cy="685800"/>
          </a:xfrm>
          <a:prstGeom prst="rect">
            <a:avLst/>
          </a:prstGeom>
          <a:noFill/>
          <a:ln/>
        </p:spPr>
        <p:txBody>
          <a:bodyPr wrap="square" lIns="0" tIns="0" rIns="0" bIns="0" rtlCol="0" anchor="t"/>
          <a:lstStyle/>
          <a:p>
            <a:pPr indent="0" marL="0">
              <a:buNone/>
            </a:pPr>
            <a:r>
              <a:rPr lang="en-US" sz="1400" dirty="0">
                <a:solidFill>
                  <a:schemeClr val="tx2"/>
                </a:solidFill>
              </a:rPr>
              <a:t>ÄTA 6: klinker Bricmate (ditt val). ÄTA 2: alternativ 1, Dornbracht. Montering 812,50 kr/h är kvar som i ÄTA:n.</a:t>
            </a:r>
            <a:endParaRPr lang="en-US" sz="1400" dirty="0"/>
          </a:p>
        </p:txBody>
      </p:sp>
      <p:sp>
        <p:nvSpPr>
          <p:cNvPr id="12" name="method-dot-3"/>
          <p:cNvSpPr/>
          <p:nvPr/>
        </p:nvSpPr>
        <p:spPr>
          <a:xfrm>
            <a:off x="548640" y="3026664"/>
            <a:ext cx="384048" cy="384048"/>
          </a:xfrm>
          <a:prstGeom prst="ellipse">
            <a:avLst/>
          </a:prstGeom>
          <a:solidFill>
            <a:schemeClr val="accent1"/>
          </a:solidFill>
          <a:ln w="12700">
            <a:solidFill>
              <a:schemeClr val="accent1"/>
            </a:solidFill>
            <a:prstDash val="solid"/>
          </a:ln>
        </p:spPr>
      </p:sp>
      <p:sp>
        <p:nvSpPr>
          <p:cNvPr id="13" name="method-num-3"/>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method-head-3"/>
          <p:cNvSpPr txBox="1"/>
          <p:nvPr/>
        </p:nvSpPr>
        <p:spPr>
          <a:xfrm>
            <a:off x="1143000" y="2980944"/>
            <a:ext cx="3108960" cy="502920"/>
          </a:xfrm>
          <a:prstGeom prst="rect">
            <a:avLst/>
          </a:prstGeom>
          <a:noFill/>
          <a:ln/>
        </p:spPr>
        <p:txBody>
          <a:bodyPr wrap="square" lIns="0" tIns="0" rIns="0" bIns="0" rtlCol="0" anchor="ctr"/>
          <a:lstStyle/>
          <a:p>
            <a:pPr indent="0" marL="0">
              <a:buNone/>
            </a:pPr>
            <a:r>
              <a:rPr lang="en-US" sz="1500" b="1" dirty="0">
                <a:solidFill>
                  <a:schemeClr val="tx1"/>
                </a:solidFill>
              </a:rPr>
              <a:t>Rum</a:t>
            </a:r>
            <a:endParaRPr lang="en-US" sz="1500" dirty="0"/>
          </a:p>
        </p:txBody>
      </p:sp>
      <p:sp>
        <p:nvSpPr>
          <p:cNvPr id="15" name="method-text-3"/>
          <p:cNvSpPr txBox="1"/>
          <p:nvPr/>
        </p:nvSpPr>
        <p:spPr>
          <a:xfrm>
            <a:off x="4389120" y="2980944"/>
            <a:ext cx="7223760" cy="685800"/>
          </a:xfrm>
          <a:prstGeom prst="rect">
            <a:avLst/>
          </a:prstGeom>
          <a:noFill/>
          <a:ln/>
        </p:spPr>
        <p:txBody>
          <a:bodyPr wrap="square" lIns="0" tIns="0" rIns="0" bIns="0" rtlCol="0" anchor="t"/>
          <a:lstStyle/>
          <a:p>
            <a:pPr indent="0" marL="0">
              <a:buNone/>
            </a:pPr>
            <a:r>
              <a:rPr lang="en-US" sz="1400" dirty="0">
                <a:solidFill>
                  <a:schemeClr val="tx2"/>
                </a:solidFill>
              </a:rPr>
              <a:t>Bara där dokumentet anger rum, till exempel "Badrum:", "Kök:", "korridor" eller "vardagsrum". Rader för flera rum ligger i kombinerade grupper.</a:t>
            </a:r>
            <a:endParaRPr lang="en-US" sz="1400" dirty="0"/>
          </a:p>
        </p:txBody>
      </p:sp>
      <p:sp>
        <p:nvSpPr>
          <p:cNvPr id="16" name="method-dot-4"/>
          <p:cNvSpPr/>
          <p:nvPr/>
        </p:nvSpPr>
        <p:spPr>
          <a:xfrm>
            <a:off x="548640" y="3831336"/>
            <a:ext cx="384048" cy="384048"/>
          </a:xfrm>
          <a:prstGeom prst="ellipse">
            <a:avLst/>
          </a:prstGeom>
          <a:solidFill>
            <a:schemeClr val="accent1"/>
          </a:solidFill>
          <a:ln w="12700">
            <a:solidFill>
              <a:schemeClr val="accent1"/>
            </a:solidFill>
            <a:prstDash val="solid"/>
          </a:ln>
        </p:spPr>
      </p:sp>
      <p:sp>
        <p:nvSpPr>
          <p:cNvPr id="17" name="method-num-4"/>
          <p:cNvSpPr txBox="1"/>
          <p:nvPr/>
        </p:nvSpPr>
        <p:spPr>
          <a:xfrm>
            <a:off x="548640" y="38313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method-head-4"/>
          <p:cNvSpPr txBox="1"/>
          <p:nvPr/>
        </p:nvSpPr>
        <p:spPr>
          <a:xfrm>
            <a:off x="1143000" y="3785616"/>
            <a:ext cx="3108960" cy="502920"/>
          </a:xfrm>
          <a:prstGeom prst="rect">
            <a:avLst/>
          </a:prstGeom>
          <a:noFill/>
          <a:ln/>
        </p:spPr>
        <p:txBody>
          <a:bodyPr wrap="square" lIns="0" tIns="0" rIns="0" bIns="0" rtlCol="0" anchor="ctr"/>
          <a:lstStyle/>
          <a:p>
            <a:pPr indent="0" marL="0">
              <a:buNone/>
            </a:pPr>
            <a:r>
              <a:rPr lang="en-US" sz="1500" b="1" dirty="0">
                <a:solidFill>
                  <a:schemeClr val="tx1"/>
                </a:solidFill>
              </a:rPr>
              <a:t>Arbete och material</a:t>
            </a:r>
            <a:endParaRPr lang="en-US" sz="1500" dirty="0"/>
          </a:p>
        </p:txBody>
      </p:sp>
      <p:sp>
        <p:nvSpPr>
          <p:cNvPr id="19" name="method-text-4"/>
          <p:cNvSpPr txBox="1"/>
          <p:nvPr/>
        </p:nvSpPr>
        <p:spPr>
          <a:xfrm>
            <a:off x="4389120" y="3785616"/>
            <a:ext cx="7223760" cy="685800"/>
          </a:xfrm>
          <a:prstGeom prst="rect">
            <a:avLst/>
          </a:prstGeom>
          <a:noFill/>
          <a:ln/>
        </p:spPr>
        <p:txBody>
          <a:bodyPr wrap="square" lIns="0" tIns="0" rIns="0" bIns="0" rtlCol="0" anchor="t"/>
          <a:lstStyle/>
          <a:p>
            <a:pPr indent="0" marL="0">
              <a:buNone/>
            </a:pPr>
            <a:r>
              <a:rPr lang="en-US" sz="1400" dirty="0">
                <a:solidFill>
                  <a:schemeClr val="tx2"/>
                </a:solidFill>
              </a:rPr>
              <a:t>Fakturerat: exakt från fakturor och underlag. Budget: varje rad märkt som arbete, material, arbete + material eller övrigt.</a:t>
            </a:r>
            <a:endParaRPr lang="en-US" sz="1400" dirty="0"/>
          </a:p>
        </p:txBody>
      </p:sp>
      <p:sp>
        <p:nvSpPr>
          <p:cNvPr id="20" name="method-dot-5"/>
          <p:cNvSpPr/>
          <p:nvPr/>
        </p:nvSpPr>
        <p:spPr>
          <a:xfrm>
            <a:off x="548640" y="4636008"/>
            <a:ext cx="384048" cy="384048"/>
          </a:xfrm>
          <a:prstGeom prst="ellipse">
            <a:avLst/>
          </a:prstGeom>
          <a:solidFill>
            <a:schemeClr val="accent1"/>
          </a:solidFill>
          <a:ln w="12700">
            <a:solidFill>
              <a:schemeClr val="accent1"/>
            </a:solidFill>
            <a:prstDash val="solid"/>
          </a:ln>
        </p:spPr>
      </p:sp>
      <p:sp>
        <p:nvSpPr>
          <p:cNvPr id="21" name="method-num-5"/>
          <p:cNvSpPr txBox="1"/>
          <p:nvPr/>
        </p:nvSpPr>
        <p:spPr>
          <a:xfrm>
            <a:off x="548640" y="46360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method-head-5"/>
          <p:cNvSpPr txBox="1"/>
          <p:nvPr/>
        </p:nvSpPr>
        <p:spPr>
          <a:xfrm>
            <a:off x="1143000" y="4590288"/>
            <a:ext cx="3108960" cy="502920"/>
          </a:xfrm>
          <a:prstGeom prst="rect">
            <a:avLst/>
          </a:prstGeom>
          <a:noFill/>
          <a:ln/>
        </p:spPr>
        <p:txBody>
          <a:bodyPr wrap="square" lIns="0" tIns="0" rIns="0" bIns="0" rtlCol="0" anchor="ctr"/>
          <a:lstStyle/>
          <a:p>
            <a:pPr indent="0" marL="0">
              <a:buNone/>
            </a:pPr>
            <a:r>
              <a:rPr lang="en-US" sz="1500" b="1" dirty="0">
                <a:solidFill>
                  <a:schemeClr val="tx1"/>
                </a:solidFill>
              </a:rPr>
              <a:t>Nedlagt och återstående</a:t>
            </a:r>
            <a:endParaRPr lang="en-US" sz="1500" dirty="0"/>
          </a:p>
        </p:txBody>
      </p:sp>
      <p:sp>
        <p:nvSpPr>
          <p:cNvPr id="23" name="method-text-5"/>
          <p:cNvSpPr txBox="1"/>
          <p:nvPr/>
        </p:nvSpPr>
        <p:spPr>
          <a:xfrm>
            <a:off x="4389120" y="4590288"/>
            <a:ext cx="7223760" cy="685800"/>
          </a:xfrm>
          <a:prstGeom prst="rect">
            <a:avLst/>
          </a:prstGeom>
          <a:noFill/>
          <a:ln/>
        </p:spPr>
        <p:txBody>
          <a:bodyPr wrap="square" lIns="0" tIns="0" rIns="0" bIns="0" rtlCol="0" anchor="t"/>
          <a:lstStyle/>
          <a:p>
            <a:pPr indent="0" marL="0">
              <a:buNone/>
            </a:pPr>
            <a:r>
              <a:rPr lang="en-US" sz="1400" dirty="0">
                <a:solidFill>
                  <a:schemeClr val="tx2"/>
                </a:solidFill>
              </a:rPr>
              <a:t>Nedlagt kommer från fakturorna. Återstående är kalkyl minus nedlagt och fördelas som postens rader.</a:t>
            </a:r>
            <a:endParaRPr lang="en-US" sz="1400" dirty="0"/>
          </a:p>
        </p:txBody>
      </p:sp>
      <p:sp>
        <p:nvSpPr>
          <p:cNvPr id="24" name="method-dot-6"/>
          <p:cNvSpPr/>
          <p:nvPr/>
        </p:nvSpPr>
        <p:spPr>
          <a:xfrm>
            <a:off x="548640" y="5440680"/>
            <a:ext cx="384048" cy="384048"/>
          </a:xfrm>
          <a:prstGeom prst="ellipse">
            <a:avLst/>
          </a:prstGeom>
          <a:solidFill>
            <a:schemeClr val="accent1"/>
          </a:solidFill>
          <a:ln w="12700">
            <a:solidFill>
              <a:schemeClr val="accent1"/>
            </a:solidFill>
            <a:prstDash val="solid"/>
          </a:ln>
        </p:spPr>
      </p:sp>
      <p:sp>
        <p:nvSpPr>
          <p:cNvPr id="25" name="method-num-6"/>
          <p:cNvSpPr txBox="1"/>
          <p:nvPr/>
        </p:nvSpPr>
        <p:spPr>
          <a:xfrm>
            <a:off x="548640" y="5440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method-head-6"/>
          <p:cNvSpPr txBox="1"/>
          <p:nvPr/>
        </p:nvSpPr>
        <p:spPr>
          <a:xfrm>
            <a:off x="1143000" y="5394960"/>
            <a:ext cx="3108960" cy="502920"/>
          </a:xfrm>
          <a:prstGeom prst="rect">
            <a:avLst/>
          </a:prstGeom>
          <a:noFill/>
          <a:ln/>
        </p:spPr>
        <p:txBody>
          <a:bodyPr wrap="square" lIns="0" tIns="0" rIns="0" bIns="0" rtlCol="0" anchor="ctr"/>
          <a:lstStyle/>
          <a:p>
            <a:pPr indent="0" marL="0">
              <a:buNone/>
            </a:pPr>
            <a:r>
              <a:rPr lang="en-US" sz="1500" b="1" dirty="0">
                <a:solidFill>
                  <a:schemeClr val="tx1"/>
                </a:solidFill>
              </a:rPr>
              <a:t>Belopp</a:t>
            </a:r>
            <a:endParaRPr lang="en-US" sz="1500" dirty="0"/>
          </a:p>
        </p:txBody>
      </p:sp>
      <p:sp>
        <p:nvSpPr>
          <p:cNvPr id="27" name="method-text-6"/>
          <p:cNvSpPr txBox="1"/>
          <p:nvPr/>
        </p:nvSpPr>
        <p:spPr>
          <a:xfrm>
            <a:off x="4389120" y="5394960"/>
            <a:ext cx="7223760" cy="685800"/>
          </a:xfrm>
          <a:prstGeom prst="rect">
            <a:avLst/>
          </a:prstGeom>
          <a:noFill/>
          <a:ln/>
        </p:spPr>
        <p:txBody>
          <a:bodyPr wrap="square" lIns="0" tIns="0" rIns="0" bIns="0" rtlCol="0" anchor="t"/>
          <a:lstStyle/>
          <a:p>
            <a:pPr indent="0" marL="0">
              <a:buNone/>
            </a:pPr>
            <a:r>
              <a:rPr lang="en-US" sz="1400" dirty="0">
                <a:solidFill>
                  <a:schemeClr val="tx2"/>
                </a:solidFill>
              </a:rPr>
              <a:t>Kronor inkl. moms, före ROT-avdrag på −200 000 kr.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65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Nästa steg: kräv specifikation från Thessén</a:t>
            </a:r>
            <a:endParaRPr lang="en-US" sz="4000" dirty="0"/>
          </a:p>
        </p:txBody>
      </p:sp>
      <p:sp>
        <p:nvSpPr>
          <p:cNvPr id="3" name="Text 0"/>
          <p:cNvSpPr/>
          <p:nvPr>
            <p:ph idx="101" type="body" hasCustomPrompt="1"/>
          </p:nvPr>
        </p:nvSpPr>
        <p:spPr>
          <a:xfrm>
            <a:off x="731520" y="3977640"/>
            <a:ext cx="10698480" cy="1280160"/>
          </a:xfrm>
          <a:prstGeom prst="rect">
            <a:avLst/>
          </a:prstGeom>
          <a:noFill/>
          <a:ln/>
        </p:spPr>
        <p:txBody>
          <a:bodyPr wrap="square" lIns="0" tIns="0" rIns="0" bIns="0" rtlCol="0" anchor="t"/>
          <a:lstStyle/>
          <a:p>
            <a:pPr algn="l" marL="342900" indent="-342900">
              <a:buSzPct val="100000"/>
              <a:buChar char="•"/>
            </a:pPr>
            <a:r>
              <a:rPr lang="en-US" sz="1800" dirty="0">
                <a:solidFill>
                  <a:schemeClr val="accent4"/>
                </a:solidFill>
              </a:rPr>
              <a:t>ÄTA 4: specificera kök, skåp och garderober (1,53 Mkr) per rum och produkt.</a:t>
            </a:r>
            <a:endParaRPr lang="en-US" sz="1800" dirty="0"/>
          </a:p>
          <a:p>
            <a:pPr algn="l" marL="342900" indent="-342900">
              <a:buSzPct val="100000"/>
              <a:buChar char="•"/>
            </a:pPr>
            <a:r>
              <a:rPr lang="en-US" sz="1800" dirty="0">
                <a:solidFill>
                  <a:schemeClr val="accent4"/>
                </a:solidFill>
              </a:rPr>
              <a:t>ÄTA 3 och offertposterna: redovisa arbete och material separat, för ROT och för timpriskontroll.</a:t>
            </a:r>
            <a:endParaRPr lang="en-US" sz="1800" dirty="0"/>
          </a:p>
          <a:p>
            <a:pPr algn="l" marL="342900" indent="-342900">
              <a:buSzPct val="100000"/>
              <a:buChar char="•"/>
            </a:pPr>
            <a:r>
              <a:rPr lang="en-US" sz="1800" dirty="0">
                <a:solidFill>
                  <a:schemeClr val="accent4"/>
                </a:solidFill>
              </a:rPr>
              <a:t>Plattor, sten och klinker: ange m² och kostnad för badrum, wc, bastu och hall.</a:t>
            </a:r>
            <a:endParaRPr lang="en-US" sz="1800" dirty="0"/>
          </a:p>
        </p:txBody>
      </p:sp>
    </p:spTree>
  </p:cSld>
  <p:clrMapOvr>
    <a:masterClrMapping/>
  </p:clrMapOvr>
</p:sld>
</file>

<file path=ppt/theme/theme1.xml><?xml version="1.0" encoding="utf-8"?>
<a:theme xmlns:a="http://schemas.openxmlformats.org/drawingml/2006/main" name="Karlavägen 71">
  <a:themeElements>
    <a:clrScheme name="Karlavägen 71">
      <a:dk1>
        <a:srgbClr val="1C2528"/>
      </a:dk1>
      <a:lt1>
        <a:srgbClr val="FFFFFF"/>
      </a:lt1>
      <a:dk2>
        <a:srgbClr val="4A5658"/>
      </a:dk2>
      <a:lt2>
        <a:srgbClr val="F1F2EE"/>
      </a:lt2>
      <a:accent1>
        <a:srgbClr val="A8691A"/>
      </a:accent1>
      <a:accent2>
        <a:srgbClr val="2E6F73"/>
      </a:accent2>
      <a:accent3>
        <a:srgbClr val="9AA3A0"/>
      </a:accent3>
      <a:accent4>
        <a:srgbClr val="D4BE96"/>
      </a:accent4>
      <a:accent5>
        <a:srgbClr val="B0412F"/>
      </a:accent5>
      <a:accent6>
        <a:srgbClr val="5B5A9E"/>
      </a:accent6>
      <a:hlink>
        <a:srgbClr val="2E6F73"/>
      </a:hlink>
      <a:folHlink>
        <a:srgbClr val="5B5A9E"/>
      </a:folHlink>
    </a:clrScheme>
    <a:fontScheme name="Karlavägen 7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Karlavägen 71 – kostnader per rum och kostnadsslag</dc:title>
  <dc:subject>PptxGenJS Presentation</dc:subject>
  <dc:creator>Patrik Guné</dc:creator>
  <cp:lastModifiedBy>Patrik Guné</cp:lastModifiedBy>
  <cp:revision>1</cp:revision>
  <dcterms:created xsi:type="dcterms:W3CDTF">2026-10-16T19:47:47Z</dcterms:created>
  <dcterms:modified xsi:type="dcterms:W3CDTF">2026-10-16T19:47:47Z</dcterms:modified>
</cp:coreProperties>
</file>